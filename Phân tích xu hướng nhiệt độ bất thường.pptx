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2"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58"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7CD5AF-9AD1-41F3-A3D2-BB4409B60005}"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03CADF09-942A-4957-BA93-FBB58D7B8039}">
      <dgm:prSet/>
      <dgm:spPr/>
      <dgm:t>
        <a:bodyPr/>
        <a:lstStyle/>
        <a:p>
          <a:r>
            <a:rPr lang="en-US"/>
            <a:t>Một số thách thức chính của dữ liệu bao gồm: giá trị thiếu ở một số cột, sự khác biệt giữa các chỉ số theo tháng và theo mùa, cũng như cần lựa chọn cột phù hợp để phân tích xu hướng chính (`J-D`). </a:t>
          </a:r>
        </a:p>
      </dgm:t>
    </dgm:pt>
    <dgm:pt modelId="{29A7101B-9D6C-478A-8267-8485013E4071}" type="parTrans" cxnId="{BCA24BB0-7C34-478B-9240-1B541754683B}">
      <dgm:prSet/>
      <dgm:spPr/>
      <dgm:t>
        <a:bodyPr/>
        <a:lstStyle/>
        <a:p>
          <a:endParaRPr lang="en-US"/>
        </a:p>
      </dgm:t>
    </dgm:pt>
    <dgm:pt modelId="{DB9420F9-4E3B-4898-BDE0-BBEC06FF4618}" type="sibTrans" cxnId="{BCA24BB0-7C34-478B-9240-1B541754683B}">
      <dgm:prSet/>
      <dgm:spPr/>
      <dgm:t>
        <a:bodyPr/>
        <a:lstStyle/>
        <a:p>
          <a:endParaRPr lang="en-US"/>
        </a:p>
      </dgm:t>
    </dgm:pt>
    <dgm:pt modelId="{4ED5DB2F-322A-4D7B-9F16-5410F1999C44}">
      <dgm:prSet/>
      <dgm:spPr/>
      <dgm:t>
        <a:bodyPr/>
        <a:lstStyle/>
        <a:p>
          <a:r>
            <a:rPr lang="en-US"/>
            <a:t>Các vấn đề này được xử lý bằng cách chuyển đổi kiểu dữ liệu, điền hoặc loại bỏ giá trị thiếu và chuẩn hóa dữ liệu trước khi phân tích.</a:t>
          </a:r>
        </a:p>
      </dgm:t>
    </dgm:pt>
    <dgm:pt modelId="{A0B47EDA-B481-486C-AF4B-412F78452526}" type="parTrans" cxnId="{2E127D04-7E97-41B7-9281-71EFB76B2BF2}">
      <dgm:prSet/>
      <dgm:spPr/>
      <dgm:t>
        <a:bodyPr/>
        <a:lstStyle/>
        <a:p>
          <a:endParaRPr lang="en-US"/>
        </a:p>
      </dgm:t>
    </dgm:pt>
    <dgm:pt modelId="{4DC009E6-3ECC-4F45-AF89-B7DD012BBC0E}" type="sibTrans" cxnId="{2E127D04-7E97-41B7-9281-71EFB76B2BF2}">
      <dgm:prSet/>
      <dgm:spPr/>
      <dgm:t>
        <a:bodyPr/>
        <a:lstStyle/>
        <a:p>
          <a:endParaRPr lang="en-US"/>
        </a:p>
      </dgm:t>
    </dgm:pt>
    <dgm:pt modelId="{CC5145B1-214E-40DF-B521-EFF3F53EC33D}" type="pres">
      <dgm:prSet presAssocID="{057CD5AF-9AD1-41F3-A3D2-BB4409B60005}" presName="Name0" presStyleCnt="0">
        <dgm:presLayoutVars>
          <dgm:dir/>
          <dgm:animLvl val="lvl"/>
          <dgm:resizeHandles val="exact"/>
        </dgm:presLayoutVars>
      </dgm:prSet>
      <dgm:spPr/>
    </dgm:pt>
    <dgm:pt modelId="{D2264BA8-BCE1-4972-B3CD-711E5C001FC8}" type="pres">
      <dgm:prSet presAssocID="{4ED5DB2F-322A-4D7B-9F16-5410F1999C44}" presName="boxAndChildren" presStyleCnt="0"/>
      <dgm:spPr/>
    </dgm:pt>
    <dgm:pt modelId="{621CA526-7B8C-48E7-88D1-86DF3A237304}" type="pres">
      <dgm:prSet presAssocID="{4ED5DB2F-322A-4D7B-9F16-5410F1999C44}" presName="parentTextBox" presStyleLbl="node1" presStyleIdx="0" presStyleCnt="2"/>
      <dgm:spPr/>
    </dgm:pt>
    <dgm:pt modelId="{4E07C7B5-6872-4E24-A304-AD51D40C6BB0}" type="pres">
      <dgm:prSet presAssocID="{DB9420F9-4E3B-4898-BDE0-BBEC06FF4618}" presName="sp" presStyleCnt="0"/>
      <dgm:spPr/>
    </dgm:pt>
    <dgm:pt modelId="{8B3DE671-7D6B-4EB4-A221-0B4F62DD8DF7}" type="pres">
      <dgm:prSet presAssocID="{03CADF09-942A-4957-BA93-FBB58D7B8039}" presName="arrowAndChildren" presStyleCnt="0"/>
      <dgm:spPr/>
    </dgm:pt>
    <dgm:pt modelId="{179B53DE-3730-4B10-8CDE-8AA9EF5D87C7}" type="pres">
      <dgm:prSet presAssocID="{03CADF09-942A-4957-BA93-FBB58D7B8039}" presName="parentTextArrow" presStyleLbl="node1" presStyleIdx="1" presStyleCnt="2"/>
      <dgm:spPr/>
    </dgm:pt>
  </dgm:ptLst>
  <dgm:cxnLst>
    <dgm:cxn modelId="{2E127D04-7E97-41B7-9281-71EFB76B2BF2}" srcId="{057CD5AF-9AD1-41F3-A3D2-BB4409B60005}" destId="{4ED5DB2F-322A-4D7B-9F16-5410F1999C44}" srcOrd="1" destOrd="0" parTransId="{A0B47EDA-B481-486C-AF4B-412F78452526}" sibTransId="{4DC009E6-3ECC-4F45-AF89-B7DD012BBC0E}"/>
    <dgm:cxn modelId="{0041E906-91F9-4651-9868-3624186021D8}" type="presOf" srcId="{03CADF09-942A-4957-BA93-FBB58D7B8039}" destId="{179B53DE-3730-4B10-8CDE-8AA9EF5D87C7}" srcOrd="0" destOrd="0" presId="urn:microsoft.com/office/officeart/2005/8/layout/process4"/>
    <dgm:cxn modelId="{65092765-6F73-4B08-8673-A117F7537C8F}" type="presOf" srcId="{4ED5DB2F-322A-4D7B-9F16-5410F1999C44}" destId="{621CA526-7B8C-48E7-88D1-86DF3A237304}" srcOrd="0" destOrd="0" presId="urn:microsoft.com/office/officeart/2005/8/layout/process4"/>
    <dgm:cxn modelId="{BCA24BB0-7C34-478B-9240-1B541754683B}" srcId="{057CD5AF-9AD1-41F3-A3D2-BB4409B60005}" destId="{03CADF09-942A-4957-BA93-FBB58D7B8039}" srcOrd="0" destOrd="0" parTransId="{29A7101B-9D6C-478A-8267-8485013E4071}" sibTransId="{DB9420F9-4E3B-4898-BDE0-BBEC06FF4618}"/>
    <dgm:cxn modelId="{91C335C9-1CEA-4D81-A8FE-D3CF8A2FE7BE}" type="presOf" srcId="{057CD5AF-9AD1-41F3-A3D2-BB4409B60005}" destId="{CC5145B1-214E-40DF-B521-EFF3F53EC33D}" srcOrd="0" destOrd="0" presId="urn:microsoft.com/office/officeart/2005/8/layout/process4"/>
    <dgm:cxn modelId="{0B096A5E-5678-4727-BBAE-AEE5708ED55D}" type="presParOf" srcId="{CC5145B1-214E-40DF-B521-EFF3F53EC33D}" destId="{D2264BA8-BCE1-4972-B3CD-711E5C001FC8}" srcOrd="0" destOrd="0" presId="urn:microsoft.com/office/officeart/2005/8/layout/process4"/>
    <dgm:cxn modelId="{0AC613EC-380F-4D64-92EF-8ABABB75B959}" type="presParOf" srcId="{D2264BA8-BCE1-4972-B3CD-711E5C001FC8}" destId="{621CA526-7B8C-48E7-88D1-86DF3A237304}" srcOrd="0" destOrd="0" presId="urn:microsoft.com/office/officeart/2005/8/layout/process4"/>
    <dgm:cxn modelId="{3B9FD325-1645-45C4-B653-BBB1EA31697B}" type="presParOf" srcId="{CC5145B1-214E-40DF-B521-EFF3F53EC33D}" destId="{4E07C7B5-6872-4E24-A304-AD51D40C6BB0}" srcOrd="1" destOrd="0" presId="urn:microsoft.com/office/officeart/2005/8/layout/process4"/>
    <dgm:cxn modelId="{442D815E-8EDF-4E9C-9A03-4FACA738C3AF}" type="presParOf" srcId="{CC5145B1-214E-40DF-B521-EFF3F53EC33D}" destId="{8B3DE671-7D6B-4EB4-A221-0B4F62DD8DF7}" srcOrd="2" destOrd="0" presId="urn:microsoft.com/office/officeart/2005/8/layout/process4"/>
    <dgm:cxn modelId="{77AA47F0-A6FC-4BD9-A732-382570035BE9}" type="presParOf" srcId="{8B3DE671-7D6B-4EB4-A221-0B4F62DD8DF7}" destId="{179B53DE-3730-4B10-8CDE-8AA9EF5D87C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CA526-7B8C-48E7-88D1-86DF3A237304}">
      <dsp:nvSpPr>
        <dsp:cNvPr id="0" name=""/>
        <dsp:cNvSpPr/>
      </dsp:nvSpPr>
      <dsp:spPr>
        <a:xfrm>
          <a:off x="0" y="3327889"/>
          <a:ext cx="6364224" cy="218345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Các vấn đề này được xử lý bằng cách chuyển đổi kiểu dữ liệu, điền hoặc loại bỏ giá trị thiếu và chuẩn hóa dữ liệu trước khi phân tích.</a:t>
          </a:r>
        </a:p>
      </dsp:txBody>
      <dsp:txXfrm>
        <a:off x="0" y="3327889"/>
        <a:ext cx="6364224" cy="2183455"/>
      </dsp:txXfrm>
    </dsp:sp>
    <dsp:sp modelId="{179B53DE-3730-4B10-8CDE-8AA9EF5D87C7}">
      <dsp:nvSpPr>
        <dsp:cNvPr id="0" name=""/>
        <dsp:cNvSpPr/>
      </dsp:nvSpPr>
      <dsp:spPr>
        <a:xfrm rot="10800000">
          <a:off x="0" y="2486"/>
          <a:ext cx="6364224" cy="3358155"/>
        </a:xfrm>
        <a:prstGeom prst="upArrowCallout">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Một số thách thức chính của dữ liệu bao gồm: giá trị thiếu ở một số cột, sự khác biệt giữa các chỉ số theo tháng và theo mùa, cũng như cần lựa chọn cột phù hợp để phân tích xu hướng chính (`J-D`). </a:t>
          </a:r>
        </a:p>
      </dsp:txBody>
      <dsp:txXfrm rot="10800000">
        <a:off x="0" y="2486"/>
        <a:ext cx="6364224" cy="21820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56145F-C32D-4FA4-9F7A-B4023640DBAE}"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DCDCAD-2671-45BD-BF8D-E5D9332F05D4}" type="slidenum">
              <a:rPr lang="en-US" smtClean="0"/>
              <a:t>‹#›</a:t>
            </a:fld>
            <a:endParaRPr lang="en-US"/>
          </a:p>
        </p:txBody>
      </p:sp>
    </p:spTree>
    <p:extLst>
      <p:ext uri="{BB962C8B-B14F-4D97-AF65-F5344CB8AC3E}">
        <p14:creationId xmlns:p14="http://schemas.microsoft.com/office/powerpoint/2010/main" val="603500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DCDCAD-2671-45BD-BF8D-E5D9332F05D4}" type="slidenum">
              <a:rPr lang="en-US" smtClean="0"/>
              <a:t>12</a:t>
            </a:fld>
            <a:endParaRPr lang="en-US"/>
          </a:p>
        </p:txBody>
      </p:sp>
    </p:spTree>
    <p:extLst>
      <p:ext uri="{BB962C8B-B14F-4D97-AF65-F5344CB8AC3E}">
        <p14:creationId xmlns:p14="http://schemas.microsoft.com/office/powerpoint/2010/main" val="1775306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7CF3B-9D48-697D-F6E1-FE4ACFD7B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104DF-7EC9-C48F-DFDB-CFBDD0DA5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DEA16-6A1B-097A-58F2-1BA76F8EB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F6758F-C25D-9D7B-7D74-1FBF39404D36}"/>
              </a:ext>
            </a:extLst>
          </p:cNvPr>
          <p:cNvSpPr>
            <a:spLocks noGrp="1"/>
          </p:cNvSpPr>
          <p:nvPr>
            <p:ph type="sldNum" sz="quarter" idx="5"/>
          </p:nvPr>
        </p:nvSpPr>
        <p:spPr/>
        <p:txBody>
          <a:bodyPr/>
          <a:lstStyle/>
          <a:p>
            <a:fld id="{16DCDCAD-2671-45BD-BF8D-E5D9332F05D4}" type="slidenum">
              <a:rPr lang="en-US" smtClean="0"/>
              <a:t>13</a:t>
            </a:fld>
            <a:endParaRPr lang="en-US"/>
          </a:p>
        </p:txBody>
      </p:sp>
    </p:spTree>
    <p:extLst>
      <p:ext uri="{BB962C8B-B14F-4D97-AF65-F5344CB8AC3E}">
        <p14:creationId xmlns:p14="http://schemas.microsoft.com/office/powerpoint/2010/main" val="3005441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6/21/2026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659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6/21/2026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52602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6/21/2026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79478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6/21/2026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4360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6/21/2026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0399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6/21/2026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4597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6/21/2026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80896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6/21/2026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72255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6/21/2026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86115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6/21/2026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15197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6/21/2026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90571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6/21/2026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55975894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DD35D54D-A830-4B0C-8D64-FB67E028B80C}"/>
              </a:ext>
            </a:extLst>
          </p:cNvPr>
          <p:cNvPicPr>
            <a:picLocks noChangeAspect="1"/>
          </p:cNvPicPr>
          <p:nvPr/>
        </p:nvPicPr>
        <p:blipFill>
          <a:blip r:embed="rId2"/>
          <a:srcRect t="1108" r="-1" b="-1"/>
          <a:stretch>
            <a:fillRect/>
          </a:stretch>
        </p:blipFill>
        <p:spPr>
          <a:xfrm>
            <a:off x="20" y="10"/>
            <a:ext cx="8668492" cy="6857990"/>
          </a:xfrm>
          <a:prstGeom prst="rect">
            <a:avLst/>
          </a:prstGeom>
        </p:spPr>
      </p:pic>
      <p:sp>
        <p:nvSpPr>
          <p:cNvPr id="22" name="Rectangle 21">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6A999B-F06C-09F9-97A4-12698EA2E7DD}"/>
              </a:ext>
            </a:extLst>
          </p:cNvPr>
          <p:cNvSpPr>
            <a:spLocks noGrp="1"/>
          </p:cNvSpPr>
          <p:nvPr>
            <p:ph type="ctrTitle"/>
          </p:nvPr>
        </p:nvSpPr>
        <p:spPr>
          <a:xfrm>
            <a:off x="7848600" y="1122363"/>
            <a:ext cx="4023360" cy="3204134"/>
          </a:xfrm>
        </p:spPr>
        <p:txBody>
          <a:bodyPr anchor="b">
            <a:normAutofit/>
          </a:bodyPr>
          <a:lstStyle/>
          <a:p>
            <a:r>
              <a:rPr lang="en-US" sz="4400" dirty="0" err="1"/>
              <a:t>Phân</a:t>
            </a:r>
            <a:r>
              <a:rPr lang="en-US" sz="4400" dirty="0"/>
              <a:t> </a:t>
            </a:r>
            <a:r>
              <a:rPr lang="en-US" sz="4400" dirty="0" err="1"/>
              <a:t>tích</a:t>
            </a:r>
            <a:r>
              <a:rPr lang="en-US" sz="4400" dirty="0"/>
              <a:t> xu </a:t>
            </a:r>
            <a:r>
              <a:rPr lang="en-US" sz="4400" dirty="0" err="1"/>
              <a:t>hướng</a:t>
            </a:r>
            <a:r>
              <a:rPr lang="en-US" sz="4400" dirty="0"/>
              <a:t> </a:t>
            </a:r>
            <a:r>
              <a:rPr lang="en-US" sz="4400" dirty="0" err="1"/>
              <a:t>nhiệt</a:t>
            </a:r>
            <a:r>
              <a:rPr lang="en-US" sz="4400" dirty="0"/>
              <a:t> </a:t>
            </a:r>
            <a:r>
              <a:rPr lang="en-US" sz="4400" dirty="0" err="1"/>
              <a:t>độ</a:t>
            </a:r>
            <a:r>
              <a:rPr lang="en-US" sz="4400" dirty="0"/>
              <a:t> </a:t>
            </a:r>
            <a:r>
              <a:rPr lang="en-US" sz="4400" dirty="0" err="1"/>
              <a:t>bất</a:t>
            </a:r>
            <a:r>
              <a:rPr lang="en-US" sz="4400" dirty="0"/>
              <a:t> </a:t>
            </a:r>
            <a:r>
              <a:rPr lang="en-US" sz="4400" dirty="0" err="1"/>
              <a:t>thường</a:t>
            </a:r>
            <a:r>
              <a:rPr lang="en-US" sz="4400" dirty="0"/>
              <a:t> </a:t>
            </a:r>
            <a:r>
              <a:rPr lang="en-US" sz="4400" dirty="0" err="1"/>
              <a:t>bề</a:t>
            </a:r>
            <a:r>
              <a:rPr lang="en-US" sz="4400" dirty="0"/>
              <a:t> </a:t>
            </a:r>
            <a:r>
              <a:rPr lang="en-US" sz="4400" dirty="0" err="1"/>
              <a:t>mặt</a:t>
            </a:r>
            <a:r>
              <a:rPr lang="en-US" sz="4400" dirty="0"/>
              <a:t> </a:t>
            </a:r>
            <a:r>
              <a:rPr lang="en-US" sz="4400" dirty="0" err="1"/>
              <a:t>trái</a:t>
            </a:r>
            <a:r>
              <a:rPr lang="en-US" sz="4400" dirty="0"/>
              <a:t> </a:t>
            </a:r>
            <a:r>
              <a:rPr lang="en-US" sz="4400" dirty="0" err="1"/>
              <a:t>đất</a:t>
            </a:r>
            <a:endParaRPr lang="en-US" sz="4400" dirty="0"/>
          </a:p>
        </p:txBody>
      </p:sp>
      <p:sp>
        <p:nvSpPr>
          <p:cNvPr id="3" name="Subtitle 2">
            <a:extLst>
              <a:ext uri="{FF2B5EF4-FFF2-40B4-BE49-F238E27FC236}">
                <a16:creationId xmlns:a16="http://schemas.microsoft.com/office/drawing/2014/main" id="{5491C1A6-B0E6-94E3-EA48-9F4A5560062A}"/>
              </a:ext>
            </a:extLst>
          </p:cNvPr>
          <p:cNvSpPr>
            <a:spLocks noGrp="1"/>
          </p:cNvSpPr>
          <p:nvPr>
            <p:ph type="subTitle" idx="1"/>
          </p:nvPr>
        </p:nvSpPr>
        <p:spPr>
          <a:xfrm>
            <a:off x="7848600" y="4872922"/>
            <a:ext cx="4023360" cy="1208141"/>
          </a:xfrm>
        </p:spPr>
        <p:txBody>
          <a:bodyPr>
            <a:normAutofit/>
          </a:bodyPr>
          <a:lstStyle/>
          <a:p>
            <a:r>
              <a:rPr lang="en-US" sz="2000" b="1"/>
              <a:t>Sinh viên: LƯƠNG QUỐC ĐỆ</a:t>
            </a:r>
          </a:p>
          <a:p>
            <a:r>
              <a:rPr lang="en-US" sz="2000"/>
              <a:t>MSSV: K225480106004</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9454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B376DE-74DB-CC81-1443-C1C835B9A950}"/>
              </a:ext>
            </a:extLst>
          </p:cNvPr>
          <p:cNvSpPr>
            <a:spLocks noGrp="1"/>
          </p:cNvSpPr>
          <p:nvPr>
            <p:ph type="title"/>
          </p:nvPr>
        </p:nvSpPr>
        <p:spPr>
          <a:xfrm>
            <a:off x="841248" y="426720"/>
            <a:ext cx="10506456" cy="1919141"/>
          </a:xfrm>
        </p:spPr>
        <p:txBody>
          <a:bodyPr anchor="b">
            <a:normAutofit/>
          </a:bodyPr>
          <a:lstStyle/>
          <a:p>
            <a:r>
              <a:rPr lang="en-US" sz="6000" dirty="0"/>
              <a:t>1. </a:t>
            </a:r>
            <a:r>
              <a:rPr lang="en-US" sz="6000" dirty="0" err="1"/>
              <a:t>Nội</a:t>
            </a:r>
            <a:r>
              <a:rPr lang="en-US" sz="6000" dirty="0"/>
              <a:t> dung </a:t>
            </a:r>
            <a:r>
              <a:rPr lang="en-US" sz="6000" dirty="0" err="1"/>
              <a:t>các</a:t>
            </a:r>
            <a:r>
              <a:rPr lang="en-US" sz="6000" dirty="0"/>
              <a:t> </a:t>
            </a:r>
            <a:r>
              <a:rPr lang="en-US" sz="6000" dirty="0" err="1"/>
              <a:t>phần</a:t>
            </a:r>
            <a:r>
              <a:rPr lang="en-US" sz="6000" dirty="0"/>
              <a:t> </a:t>
            </a:r>
            <a:r>
              <a:rPr lang="en-US" sz="6000" dirty="0" err="1"/>
              <a:t>câu</a:t>
            </a:r>
            <a:r>
              <a:rPr lang="en-US" sz="6000" dirty="0"/>
              <a:t> </a:t>
            </a:r>
            <a:r>
              <a:rPr lang="en-US" sz="6000" dirty="0" err="1"/>
              <a:t>hỏi</a:t>
            </a:r>
            <a:r>
              <a:rPr lang="en-US" sz="6000" dirty="0"/>
              <a:t> </a:t>
            </a:r>
            <a:br>
              <a:rPr lang="en-US" sz="6000" b="1" dirty="0"/>
            </a:br>
            <a:endParaRPr lang="en-US" sz="6000" dirty="0"/>
          </a:p>
        </p:txBody>
      </p:sp>
      <p:sp>
        <p:nvSpPr>
          <p:cNvPr id="10" name="Rectangle 9">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Content Placeholder 2">
            <a:extLst>
              <a:ext uri="{FF2B5EF4-FFF2-40B4-BE49-F238E27FC236}">
                <a16:creationId xmlns:a16="http://schemas.microsoft.com/office/drawing/2014/main" id="{E2F155EA-3C4B-73EA-2BF5-85E4F7E8F761}"/>
              </a:ext>
            </a:extLst>
          </p:cNvPr>
          <p:cNvSpPr>
            <a:spLocks noGrp="1"/>
          </p:cNvSpPr>
          <p:nvPr>
            <p:ph idx="1"/>
          </p:nvPr>
        </p:nvSpPr>
        <p:spPr>
          <a:xfrm>
            <a:off x="841248" y="3337269"/>
            <a:ext cx="10509504" cy="2905686"/>
          </a:xfrm>
        </p:spPr>
        <p:txBody>
          <a:bodyPr>
            <a:normAutofit/>
          </a:bodyPr>
          <a:lstStyle/>
          <a:p>
            <a:pPr lvl="0">
              <a:lnSpc>
                <a:spcPct val="100000"/>
              </a:lnSpc>
            </a:pPr>
            <a:r>
              <a:rPr lang="en-US" sz="2000" i="1"/>
              <a:t>Nhiệt độ bất thường trung bình toàn cầu đã thay đổi như thế nào từ năm 1880 đến 2025?</a:t>
            </a:r>
            <a:endParaRPr lang="en-US" sz="2000"/>
          </a:p>
          <a:p>
            <a:pPr lvl="0">
              <a:lnSpc>
                <a:spcPct val="100000"/>
              </a:lnSpc>
            </a:pPr>
            <a:r>
              <a:rPr lang="en-US" sz="2000" i="1"/>
              <a:t>Thập kỷ nào nóng nhất trong lịch sử ghi nhận? Và thập kỷ nào lạnh nhất?</a:t>
            </a:r>
            <a:endParaRPr lang="en-US" sz="2000"/>
          </a:p>
          <a:p>
            <a:pPr lvl="0">
              <a:lnSpc>
                <a:spcPct val="100000"/>
              </a:lnSpc>
            </a:pPr>
            <a:r>
              <a:rPr lang="en-US" sz="2000" i="1"/>
              <a:t>Năm nào có giá trị nhiệt độ bất thường cao nhất và thấp nhất? Điều này có liên quan đến các sự kiện khí hậu lớn (ví dụ: El Niño, phun trào núi lửa) không?</a:t>
            </a:r>
            <a:endParaRPr lang="en-US" sz="2000"/>
          </a:p>
          <a:p>
            <a:pPr lvl="0">
              <a:lnSpc>
                <a:spcPct val="100000"/>
              </a:lnSpc>
            </a:pPr>
            <a:r>
              <a:rPr lang="en-US" sz="2000" i="1"/>
              <a:t>Xu hướng nhiệt độ bất thường theo mùa có khác biệt đáng kể không? </a:t>
            </a:r>
            <a:endParaRPr lang="en-US" sz="2000"/>
          </a:p>
          <a:p>
            <a:pPr lvl="0">
              <a:lnSpc>
                <a:spcPct val="100000"/>
              </a:lnSpc>
            </a:pPr>
            <a:r>
              <a:rPr lang="en-US" sz="2000" i="1"/>
              <a:t>nhiệt độ bất thường có xu hướng ổn định, tăng đều, hay dao động mạnh? Có thể dự đoán xu hướng tiếp theo dựa trên dữ liệu này không?</a:t>
            </a:r>
            <a:endParaRPr lang="en-US" sz="2000"/>
          </a:p>
          <a:p>
            <a:pPr>
              <a:lnSpc>
                <a:spcPct val="100000"/>
              </a:lnSpc>
            </a:pPr>
            <a:endParaRPr lang="en-US" sz="2000"/>
          </a:p>
        </p:txBody>
      </p:sp>
    </p:spTree>
    <p:extLst>
      <p:ext uri="{BB962C8B-B14F-4D97-AF65-F5344CB8AC3E}">
        <p14:creationId xmlns:p14="http://schemas.microsoft.com/office/powerpoint/2010/main" val="1667621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6149D-C2E0-C991-3B71-815FCD5DBE38}"/>
              </a:ext>
            </a:extLst>
          </p:cNvPr>
          <p:cNvSpPr>
            <a:spLocks noGrp="1"/>
          </p:cNvSpPr>
          <p:nvPr>
            <p:ph type="title"/>
          </p:nvPr>
        </p:nvSpPr>
        <p:spPr>
          <a:xfrm>
            <a:off x="411480" y="991443"/>
            <a:ext cx="4443154" cy="1087819"/>
          </a:xfrm>
        </p:spPr>
        <p:txBody>
          <a:bodyPr anchor="b">
            <a:normAutofit/>
          </a:bodyPr>
          <a:lstStyle/>
          <a:p>
            <a:r>
              <a:rPr lang="en-US" sz="3400"/>
              <a:t>Phân tích yêu cầu bài toán</a:t>
            </a:r>
          </a:p>
        </p:txBody>
      </p:sp>
      <p:sp>
        <p:nvSpPr>
          <p:cNvPr id="19" name="Rectangle 18">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A99A2A0-953D-6E0A-B125-DA15A551C3A3}"/>
              </a:ext>
            </a:extLst>
          </p:cNvPr>
          <p:cNvSpPr>
            <a:spLocks noGrp="1"/>
          </p:cNvSpPr>
          <p:nvPr>
            <p:ph idx="1"/>
          </p:nvPr>
        </p:nvSpPr>
        <p:spPr>
          <a:xfrm>
            <a:off x="411480" y="2684095"/>
            <a:ext cx="4443154" cy="3492868"/>
          </a:xfrm>
        </p:spPr>
        <p:txBody>
          <a:bodyPr>
            <a:normAutofit/>
          </a:bodyPr>
          <a:lstStyle/>
          <a:p>
            <a:r>
              <a:rPr lang="en-US" sz="1700" dirty="0" err="1"/>
              <a:t>Bài</a:t>
            </a:r>
            <a:r>
              <a:rPr lang="en-US" sz="1700" dirty="0"/>
              <a:t> </a:t>
            </a:r>
            <a:r>
              <a:rPr lang="en-US" sz="1700" dirty="0" err="1"/>
              <a:t>toán</a:t>
            </a:r>
            <a:r>
              <a:rPr lang="en-US" sz="1700" dirty="0"/>
              <a:t> </a:t>
            </a:r>
            <a:r>
              <a:rPr lang="en-US" sz="1700" dirty="0" err="1"/>
              <a:t>yêu</a:t>
            </a:r>
            <a:r>
              <a:rPr lang="en-US" sz="1700" dirty="0"/>
              <a:t> </a:t>
            </a:r>
            <a:r>
              <a:rPr lang="en-US" sz="1700" dirty="0" err="1"/>
              <a:t>cầu</a:t>
            </a:r>
            <a:r>
              <a:rPr lang="en-US" sz="1700" dirty="0"/>
              <a:t> </a:t>
            </a:r>
            <a:r>
              <a:rPr lang="en-US" sz="1700" dirty="0" err="1"/>
              <a:t>phân</a:t>
            </a:r>
            <a:r>
              <a:rPr lang="en-US" sz="1700" dirty="0"/>
              <a:t> </a:t>
            </a:r>
            <a:r>
              <a:rPr lang="en-US" sz="1700" dirty="0" err="1"/>
              <a:t>tích</a:t>
            </a:r>
            <a:r>
              <a:rPr lang="en-US" sz="1700" dirty="0"/>
              <a:t> </a:t>
            </a:r>
            <a:r>
              <a:rPr lang="en-US" sz="1700" dirty="0" err="1"/>
              <a:t>dữ</a:t>
            </a:r>
            <a:r>
              <a:rPr lang="en-US" sz="1700" dirty="0"/>
              <a:t> </a:t>
            </a:r>
            <a:r>
              <a:rPr lang="en-US" sz="1700" dirty="0" err="1"/>
              <a:t>liệu</a:t>
            </a:r>
            <a:r>
              <a:rPr lang="en-US" sz="1700" dirty="0"/>
              <a:t> </a:t>
            </a:r>
            <a:r>
              <a:rPr lang="en-US" sz="1700" dirty="0" err="1"/>
              <a:t>nhiệt</a:t>
            </a:r>
            <a:r>
              <a:rPr lang="en-US" sz="1700" dirty="0"/>
              <a:t> </a:t>
            </a:r>
            <a:r>
              <a:rPr lang="en-US" sz="1700" dirty="0" err="1"/>
              <a:t>độ</a:t>
            </a:r>
            <a:r>
              <a:rPr lang="en-US" sz="1700" dirty="0"/>
              <a:t> </a:t>
            </a:r>
            <a:r>
              <a:rPr lang="en-US" sz="1700" dirty="0" err="1"/>
              <a:t>bất</a:t>
            </a:r>
            <a:r>
              <a:rPr lang="en-US" sz="1700" dirty="0"/>
              <a:t> </a:t>
            </a:r>
            <a:r>
              <a:rPr lang="en-US" sz="1700" dirty="0" err="1"/>
              <a:t>thường</a:t>
            </a:r>
            <a:r>
              <a:rPr lang="en-US" sz="1700" dirty="0"/>
              <a:t> </a:t>
            </a:r>
            <a:r>
              <a:rPr lang="en-US" sz="1700" dirty="0" err="1"/>
              <a:t>toàn</a:t>
            </a:r>
            <a:r>
              <a:rPr lang="en-US" sz="1700" dirty="0"/>
              <a:t> </a:t>
            </a:r>
            <a:r>
              <a:rPr lang="en-US" sz="1700" dirty="0" err="1"/>
              <a:t>cầu</a:t>
            </a:r>
            <a:r>
              <a:rPr lang="en-US" sz="1700" dirty="0"/>
              <a:t>, </a:t>
            </a:r>
            <a:r>
              <a:rPr lang="en-US" sz="1700" dirty="0" err="1"/>
              <a:t>tìm</a:t>
            </a:r>
            <a:r>
              <a:rPr lang="en-US" sz="1700" dirty="0"/>
              <a:t> xu </a:t>
            </a:r>
            <a:r>
              <a:rPr lang="en-US" sz="1700" dirty="0" err="1"/>
              <a:t>hướng</a:t>
            </a:r>
            <a:r>
              <a:rPr lang="en-US" sz="1700" dirty="0"/>
              <a:t> </a:t>
            </a:r>
            <a:r>
              <a:rPr lang="en-US" sz="1700" dirty="0" err="1"/>
              <a:t>thay</a:t>
            </a:r>
            <a:r>
              <a:rPr lang="en-US" sz="1700" dirty="0"/>
              <a:t> </a:t>
            </a:r>
            <a:r>
              <a:rPr lang="en-US" sz="1700" dirty="0" err="1"/>
              <a:t>đổi</a:t>
            </a:r>
            <a:r>
              <a:rPr lang="en-US" sz="1700" dirty="0"/>
              <a:t> </a:t>
            </a:r>
            <a:r>
              <a:rPr lang="en-US" sz="1700" dirty="0" err="1"/>
              <a:t>theo</a:t>
            </a:r>
            <a:r>
              <a:rPr lang="en-US" sz="1700" dirty="0"/>
              <a:t> </a:t>
            </a:r>
            <a:r>
              <a:rPr lang="en-US" sz="1700" dirty="0" err="1"/>
              <a:t>thời</a:t>
            </a:r>
            <a:r>
              <a:rPr lang="en-US" sz="1700" dirty="0"/>
              <a:t> </a:t>
            </a:r>
            <a:r>
              <a:rPr lang="en-US" sz="1700" dirty="0" err="1"/>
              <a:t>gian</a:t>
            </a:r>
            <a:r>
              <a:rPr lang="en-US" sz="1700" dirty="0"/>
              <a:t>, </a:t>
            </a:r>
            <a:r>
              <a:rPr lang="en-US" sz="1700" dirty="0" err="1"/>
              <a:t>xác</a:t>
            </a:r>
            <a:r>
              <a:rPr lang="en-US" sz="1700" dirty="0"/>
              <a:t> </a:t>
            </a:r>
            <a:r>
              <a:rPr lang="en-US" sz="1700" dirty="0" err="1"/>
              <a:t>định</a:t>
            </a:r>
            <a:r>
              <a:rPr lang="en-US" sz="1700" dirty="0"/>
              <a:t> </a:t>
            </a:r>
            <a:r>
              <a:rPr lang="en-US" sz="1700" dirty="0" err="1"/>
              <a:t>các</a:t>
            </a:r>
            <a:r>
              <a:rPr lang="en-US" sz="1700" dirty="0"/>
              <a:t> </a:t>
            </a:r>
            <a:r>
              <a:rPr lang="en-US" sz="1700" dirty="0" err="1"/>
              <a:t>năm</a:t>
            </a:r>
            <a:r>
              <a:rPr lang="en-US" sz="1700" dirty="0"/>
              <a:t> </a:t>
            </a:r>
            <a:r>
              <a:rPr lang="en-US" sz="1700" dirty="0" err="1"/>
              <a:t>và</a:t>
            </a:r>
            <a:r>
              <a:rPr lang="en-US" sz="1700" dirty="0"/>
              <a:t> </a:t>
            </a:r>
            <a:r>
              <a:rPr lang="en-US" sz="1700" dirty="0" err="1"/>
              <a:t>thập</a:t>
            </a:r>
            <a:r>
              <a:rPr lang="en-US" sz="1700" dirty="0"/>
              <a:t> </a:t>
            </a:r>
            <a:r>
              <a:rPr lang="en-US" sz="1700" dirty="0" err="1"/>
              <a:t>kỷ</a:t>
            </a:r>
            <a:r>
              <a:rPr lang="en-US" sz="1700" dirty="0"/>
              <a:t> </a:t>
            </a:r>
            <a:r>
              <a:rPr lang="en-US" sz="1700" dirty="0" err="1"/>
              <a:t>cực</a:t>
            </a:r>
            <a:r>
              <a:rPr lang="en-US" sz="1700" dirty="0"/>
              <a:t> </a:t>
            </a:r>
            <a:r>
              <a:rPr lang="en-US" sz="1700" dirty="0" err="1"/>
              <a:t>trị</a:t>
            </a:r>
            <a:r>
              <a:rPr lang="en-US" sz="1700" dirty="0"/>
              <a:t>, so </a:t>
            </a:r>
            <a:r>
              <a:rPr lang="en-US" sz="1700" dirty="0" err="1"/>
              <a:t>sánh</a:t>
            </a:r>
            <a:r>
              <a:rPr lang="en-US" sz="1700" dirty="0"/>
              <a:t> </a:t>
            </a:r>
            <a:r>
              <a:rPr lang="en-US" sz="1700" dirty="0" err="1"/>
              <a:t>theo</a:t>
            </a:r>
            <a:r>
              <a:rPr lang="en-US" sz="1700" dirty="0"/>
              <a:t> </a:t>
            </a:r>
            <a:r>
              <a:rPr lang="en-US" sz="1700" dirty="0" err="1"/>
              <a:t>mùa</a:t>
            </a:r>
            <a:r>
              <a:rPr lang="en-US" sz="1700" dirty="0"/>
              <a:t> </a:t>
            </a:r>
            <a:r>
              <a:rPr lang="en-US" sz="1700" dirty="0" err="1"/>
              <a:t>và</a:t>
            </a:r>
            <a:r>
              <a:rPr lang="en-US" sz="1700" dirty="0"/>
              <a:t> </a:t>
            </a:r>
            <a:r>
              <a:rPr lang="en-US" sz="1700" dirty="0" err="1"/>
              <a:t>thực</a:t>
            </a:r>
            <a:r>
              <a:rPr lang="en-US" sz="1700" dirty="0"/>
              <a:t> </a:t>
            </a:r>
            <a:r>
              <a:rPr lang="en-US" sz="1700" dirty="0" err="1"/>
              <a:t>hiện</a:t>
            </a:r>
            <a:r>
              <a:rPr lang="en-US" sz="1700" dirty="0"/>
              <a:t> </a:t>
            </a:r>
            <a:r>
              <a:rPr lang="en-US" sz="1700" dirty="0" err="1"/>
              <a:t>dự</a:t>
            </a:r>
            <a:r>
              <a:rPr lang="en-US" sz="1700" dirty="0"/>
              <a:t> </a:t>
            </a:r>
            <a:r>
              <a:rPr lang="en-US" sz="1700" dirty="0" err="1"/>
              <a:t>đoán</a:t>
            </a:r>
            <a:r>
              <a:rPr lang="en-US" sz="1700" dirty="0"/>
              <a:t>. </a:t>
            </a:r>
            <a:r>
              <a:rPr lang="en-US" sz="1700" dirty="0" err="1"/>
              <a:t>Ngoài</a:t>
            </a:r>
            <a:r>
              <a:rPr lang="en-US" sz="1700" dirty="0"/>
              <a:t> </a:t>
            </a:r>
            <a:r>
              <a:rPr lang="en-US" sz="1700" dirty="0" err="1"/>
              <a:t>ra</a:t>
            </a:r>
            <a:r>
              <a:rPr lang="en-US" sz="1700" dirty="0"/>
              <a:t>, </a:t>
            </a:r>
            <a:r>
              <a:rPr lang="en-US" sz="1700" dirty="0" err="1"/>
              <a:t>cần</a:t>
            </a:r>
            <a:r>
              <a:rPr lang="en-US" sz="1700" dirty="0"/>
              <a:t> </a:t>
            </a:r>
            <a:r>
              <a:rPr lang="en-US" sz="1700" dirty="0" err="1"/>
              <a:t>áp</a:t>
            </a:r>
            <a:r>
              <a:rPr lang="en-US" sz="1700" dirty="0"/>
              <a:t> </a:t>
            </a:r>
            <a:r>
              <a:rPr lang="en-US" sz="1700" dirty="0" err="1"/>
              <a:t>dụng</a:t>
            </a:r>
            <a:r>
              <a:rPr lang="en-US" sz="1700" dirty="0"/>
              <a:t> </a:t>
            </a:r>
            <a:r>
              <a:rPr lang="en-US" sz="1700" dirty="0" err="1"/>
              <a:t>hai</a:t>
            </a:r>
            <a:r>
              <a:rPr lang="en-US" sz="1700" dirty="0"/>
              <a:t> </a:t>
            </a:r>
            <a:r>
              <a:rPr lang="en-US" sz="1700" dirty="0" err="1"/>
              <a:t>phương</a:t>
            </a:r>
            <a:r>
              <a:rPr lang="en-US" sz="1700" dirty="0"/>
              <a:t> </a:t>
            </a:r>
            <a:r>
              <a:rPr lang="en-US" sz="1700" dirty="0" err="1"/>
              <a:t>pháp</a:t>
            </a:r>
            <a:r>
              <a:rPr lang="en-US" sz="1700" dirty="0"/>
              <a:t> </a:t>
            </a:r>
            <a:r>
              <a:rPr lang="en-US" sz="1700" dirty="0" err="1"/>
              <a:t>dự</a:t>
            </a:r>
            <a:r>
              <a:rPr lang="en-US" sz="1700" dirty="0"/>
              <a:t> </a:t>
            </a:r>
            <a:r>
              <a:rPr lang="en-US" sz="1700" dirty="0" err="1"/>
              <a:t>đoán</a:t>
            </a:r>
            <a:r>
              <a:rPr lang="en-US" sz="1700" dirty="0"/>
              <a:t> là </a:t>
            </a:r>
            <a:r>
              <a:rPr lang="en-US" sz="1700" dirty="0" err="1"/>
              <a:t>phân</a:t>
            </a:r>
            <a:r>
              <a:rPr lang="en-US" sz="1700" dirty="0"/>
              <a:t> </a:t>
            </a:r>
            <a:r>
              <a:rPr lang="en-US" sz="1700" dirty="0" err="1"/>
              <a:t>cụm</a:t>
            </a:r>
            <a:r>
              <a:rPr lang="en-US" sz="1700" dirty="0"/>
              <a:t> </a:t>
            </a:r>
            <a:r>
              <a:rPr lang="en-US" sz="1700" dirty="0" err="1"/>
              <a:t>theo</a:t>
            </a:r>
            <a:r>
              <a:rPr lang="en-US" sz="1700" dirty="0"/>
              <a:t> </a:t>
            </a:r>
            <a:r>
              <a:rPr lang="en-US" sz="1700" dirty="0" err="1"/>
              <a:t>thập</a:t>
            </a:r>
            <a:r>
              <a:rPr lang="en-US" sz="1700" dirty="0"/>
              <a:t> </a:t>
            </a:r>
            <a:r>
              <a:rPr lang="en-US" sz="1700" dirty="0" err="1"/>
              <a:t>kỷ</a:t>
            </a:r>
            <a:r>
              <a:rPr lang="en-US" sz="1700" dirty="0"/>
              <a:t> </a:t>
            </a:r>
            <a:r>
              <a:rPr lang="en-US" sz="1700" dirty="0" err="1"/>
              <a:t>và</a:t>
            </a:r>
            <a:r>
              <a:rPr lang="en-US" sz="1700" dirty="0"/>
              <a:t> </a:t>
            </a:r>
            <a:r>
              <a:rPr lang="en-US" sz="1700" dirty="0" err="1"/>
              <a:t>phân</a:t>
            </a:r>
            <a:r>
              <a:rPr lang="en-US" sz="1700" dirty="0"/>
              <a:t> </a:t>
            </a:r>
            <a:r>
              <a:rPr lang="en-US" sz="1700" dirty="0" err="1"/>
              <a:t>lớp</a:t>
            </a:r>
            <a:r>
              <a:rPr lang="en-US" sz="1700" dirty="0"/>
              <a:t> </a:t>
            </a:r>
            <a:r>
              <a:rPr lang="en-US" sz="1700" dirty="0" err="1"/>
              <a:t>theo</a:t>
            </a:r>
            <a:r>
              <a:rPr lang="en-US" sz="1700" dirty="0"/>
              <a:t> </a:t>
            </a:r>
            <a:r>
              <a:rPr lang="en-US" sz="1700" dirty="0" err="1"/>
              <a:t>mức</a:t>
            </a:r>
            <a:r>
              <a:rPr lang="en-US" sz="1700" dirty="0"/>
              <a:t> </a:t>
            </a:r>
            <a:r>
              <a:rPr lang="en-US" sz="1700" dirty="0" err="1"/>
              <a:t>nóng</a:t>
            </a:r>
            <a:r>
              <a:rPr lang="en-US" sz="1700" dirty="0"/>
              <a:t>/</a:t>
            </a:r>
            <a:r>
              <a:rPr lang="en-US" sz="1700" dirty="0" err="1"/>
              <a:t>lạnh</a:t>
            </a:r>
            <a:endParaRPr lang="en-US" sz="1700" dirty="0"/>
          </a:p>
          <a:p>
            <a:endParaRPr lang="en-US" sz="1700" dirty="0"/>
          </a:p>
        </p:txBody>
      </p:sp>
      <p:pic>
        <p:nvPicPr>
          <p:cNvPr id="5" name="Picture 4">
            <a:extLst>
              <a:ext uri="{FF2B5EF4-FFF2-40B4-BE49-F238E27FC236}">
                <a16:creationId xmlns:a16="http://schemas.microsoft.com/office/drawing/2014/main" id="{F903A47A-6781-DE7E-3FBB-6C93BBDEF272}"/>
              </a:ext>
            </a:extLst>
          </p:cNvPr>
          <p:cNvPicPr>
            <a:picLocks noChangeAspect="1"/>
          </p:cNvPicPr>
          <p:nvPr/>
        </p:nvPicPr>
        <p:blipFill>
          <a:blip r:embed="rId2"/>
          <a:srcRect l="9678" t="8989" r="9642" b="7275"/>
          <a:stretch>
            <a:fillRect/>
          </a:stretch>
        </p:blipFill>
        <p:spPr>
          <a:xfrm>
            <a:off x="5385816" y="1521343"/>
            <a:ext cx="6440424" cy="3759959"/>
          </a:xfrm>
          <a:prstGeom prst="rect">
            <a:avLst/>
          </a:prstGeom>
        </p:spPr>
      </p:pic>
    </p:spTree>
    <p:extLst>
      <p:ext uri="{BB962C8B-B14F-4D97-AF65-F5344CB8AC3E}">
        <p14:creationId xmlns:p14="http://schemas.microsoft.com/office/powerpoint/2010/main" val="2167742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8A0947-DD8A-D874-7F66-373AC58463EC}"/>
              </a:ext>
            </a:extLst>
          </p:cNvPr>
          <p:cNvSpPr>
            <a:spLocks noGrp="1"/>
          </p:cNvSpPr>
          <p:nvPr>
            <p:ph type="title"/>
          </p:nvPr>
        </p:nvSpPr>
        <p:spPr>
          <a:xfrm>
            <a:off x="621792" y="1161288"/>
            <a:ext cx="3602736" cy="4526280"/>
          </a:xfrm>
        </p:spPr>
        <p:txBody>
          <a:bodyPr>
            <a:normAutofit/>
          </a:bodyPr>
          <a:lstStyle/>
          <a:p>
            <a:r>
              <a:rPr lang="en-US" b="1"/>
              <a:t>Xác</a:t>
            </a:r>
            <a:r>
              <a:rPr lang="en-US" b="1" dirty="0"/>
              <a:t> </a:t>
            </a:r>
            <a:r>
              <a:rPr lang="en-US" b="1"/>
              <a:t>định</a:t>
            </a:r>
            <a:r>
              <a:rPr lang="en-US" b="1" dirty="0"/>
              <a:t> </a:t>
            </a:r>
            <a:r>
              <a:rPr lang="en-US" b="1"/>
              <a:t>các</a:t>
            </a:r>
            <a:r>
              <a:rPr lang="en-US" b="1" dirty="0"/>
              <a:t> </a:t>
            </a:r>
            <a:r>
              <a:rPr lang="en-US" b="1"/>
              <a:t>thách</a:t>
            </a:r>
            <a:r>
              <a:rPr lang="en-US" b="1" dirty="0"/>
              <a:t> </a:t>
            </a:r>
            <a:r>
              <a:rPr lang="en-US" b="1"/>
              <a:t>thức</a:t>
            </a:r>
            <a:r>
              <a:rPr lang="en-US" b="1" dirty="0"/>
              <a:t> </a:t>
            </a:r>
            <a:r>
              <a:rPr lang="en-US" b="1"/>
              <a:t>về</a:t>
            </a:r>
            <a:r>
              <a:rPr lang="en-US" b="1" dirty="0"/>
              <a:t> </a:t>
            </a:r>
            <a:r>
              <a:rPr lang="en-US" b="1"/>
              <a:t>dữ</a:t>
            </a:r>
            <a:r>
              <a:rPr lang="en-US" b="1" dirty="0"/>
              <a:t> </a:t>
            </a:r>
            <a:r>
              <a:rPr lang="en-US" b="1"/>
              <a:t>liệu</a:t>
            </a:r>
            <a:r>
              <a:rPr lang="en-US" b="1" dirty="0"/>
              <a:t> </a:t>
            </a:r>
            <a:r>
              <a:rPr lang="en-US" b="1"/>
              <a:t>và</a:t>
            </a:r>
            <a:r>
              <a:rPr lang="en-US" b="1" dirty="0"/>
              <a:t> </a:t>
            </a:r>
            <a:r>
              <a:rPr lang="en-US" b="1"/>
              <a:t>Hướng</a:t>
            </a:r>
            <a:r>
              <a:rPr lang="en-US" b="1" dirty="0"/>
              <a:t> </a:t>
            </a:r>
            <a:r>
              <a:rPr lang="en-US" b="1"/>
              <a:t>giải</a:t>
            </a:r>
            <a:r>
              <a:rPr lang="en-US" b="1" dirty="0"/>
              <a:t> </a:t>
            </a:r>
            <a:r>
              <a:rPr lang="en-US" b="1"/>
              <a:t>quyết</a:t>
            </a:r>
            <a:br>
              <a:rPr lang="en-US" dirty="0"/>
            </a:br>
            <a:r>
              <a:rPr lang="en-US" dirty="0"/>
              <a:t>	</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EA4C61BF-64F7-C120-D106-FFD9CDB4A11F}"/>
              </a:ext>
            </a:extLst>
          </p:cNvPr>
          <p:cNvGraphicFramePr>
            <a:graphicFrameLocks noGrp="1"/>
          </p:cNvGraphicFramePr>
          <p:nvPr>
            <p:ph idx="1"/>
            <p:extLst>
              <p:ext uri="{D42A27DB-BD31-4B8C-83A1-F6EECF244321}">
                <p14:modId xmlns:p14="http://schemas.microsoft.com/office/powerpoint/2010/main" val="255037476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479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90F192-B324-5E43-CBF4-78208E7B26F2}"/>
              </a:ext>
            </a:extLst>
          </p:cNvPr>
          <p:cNvSpPr>
            <a:spLocks noGrp="1"/>
          </p:cNvSpPr>
          <p:nvPr>
            <p:ph type="title"/>
          </p:nvPr>
        </p:nvSpPr>
        <p:spPr>
          <a:xfrm>
            <a:off x="838196" y="978408"/>
            <a:ext cx="6007608" cy="1106424"/>
          </a:xfrm>
        </p:spPr>
        <p:txBody>
          <a:bodyPr>
            <a:normAutofit/>
          </a:bodyPr>
          <a:lstStyle/>
          <a:p>
            <a:r>
              <a:rPr lang="en-US" sz="2800"/>
              <a:t>Thiết kế hệ thống chương trình</a:t>
            </a:r>
          </a:p>
        </p:txBody>
      </p:sp>
      <p:sp>
        <p:nvSpPr>
          <p:cNvPr id="22" name="Rectangle 21">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612100B-330C-10DC-C311-DFB61ADBD92A}"/>
              </a:ext>
            </a:extLst>
          </p:cNvPr>
          <p:cNvSpPr>
            <a:spLocks noGrp="1"/>
          </p:cNvSpPr>
          <p:nvPr>
            <p:ph idx="1"/>
          </p:nvPr>
        </p:nvSpPr>
        <p:spPr>
          <a:xfrm>
            <a:off x="838196" y="2191525"/>
            <a:ext cx="4293239" cy="4282808"/>
          </a:xfrm>
        </p:spPr>
        <p:txBody>
          <a:bodyPr>
            <a:normAutofit/>
          </a:bodyPr>
          <a:lstStyle/>
          <a:p>
            <a:pPr algn="just">
              <a:lnSpc>
                <a:spcPct val="100000"/>
              </a:lnSpc>
            </a:pPr>
            <a:r>
              <a:rPr lang="en-US" sz="1600" dirty="0" err="1"/>
              <a:t>Chương</a:t>
            </a:r>
            <a:r>
              <a:rPr lang="en-US" sz="1600" dirty="0"/>
              <a:t> </a:t>
            </a:r>
            <a:r>
              <a:rPr lang="en-US" sz="1600" dirty="0" err="1"/>
              <a:t>trình</a:t>
            </a:r>
            <a:r>
              <a:rPr lang="en-US" sz="1600" dirty="0"/>
              <a:t> </a:t>
            </a:r>
            <a:r>
              <a:rPr lang="en-US" sz="1600" dirty="0" err="1"/>
              <a:t>được</a:t>
            </a:r>
            <a:r>
              <a:rPr lang="en-US" sz="1600" dirty="0"/>
              <a:t> </a:t>
            </a:r>
            <a:r>
              <a:rPr lang="en-US" sz="1600" dirty="0" err="1"/>
              <a:t>thiết</a:t>
            </a:r>
            <a:r>
              <a:rPr lang="en-US" sz="1600" dirty="0"/>
              <a:t> </a:t>
            </a:r>
            <a:r>
              <a:rPr lang="en-US" sz="1600" dirty="0" err="1"/>
              <a:t>kế</a:t>
            </a:r>
            <a:r>
              <a:rPr lang="en-US" sz="1600" dirty="0"/>
              <a:t> </a:t>
            </a:r>
            <a:r>
              <a:rPr lang="en-US" sz="1600" dirty="0" err="1"/>
              <a:t>theo</a:t>
            </a:r>
            <a:r>
              <a:rPr lang="en-US" sz="1600" dirty="0"/>
              <a:t> </a:t>
            </a:r>
            <a:r>
              <a:rPr lang="en-US" sz="1600" dirty="0" err="1"/>
              <a:t>quy</a:t>
            </a:r>
            <a:r>
              <a:rPr lang="en-US" sz="1600" dirty="0"/>
              <a:t> </a:t>
            </a:r>
            <a:r>
              <a:rPr lang="en-US" sz="1600" dirty="0" err="1"/>
              <a:t>trình</a:t>
            </a:r>
            <a:r>
              <a:rPr lang="en-US" sz="1600" dirty="0"/>
              <a:t> </a:t>
            </a:r>
            <a:r>
              <a:rPr lang="en-US" sz="1600" dirty="0" err="1"/>
              <a:t>gồm</a:t>
            </a:r>
            <a:r>
              <a:rPr lang="en-US" sz="1600" dirty="0"/>
              <a:t> </a:t>
            </a:r>
            <a:r>
              <a:rPr lang="en-US" sz="1600" dirty="0" err="1"/>
              <a:t>các</a:t>
            </a:r>
            <a:r>
              <a:rPr lang="en-US" sz="1600" dirty="0"/>
              <a:t> </a:t>
            </a:r>
            <a:r>
              <a:rPr lang="en-US" sz="1600" dirty="0" err="1"/>
              <a:t>bước</a:t>
            </a:r>
            <a:r>
              <a:rPr lang="en-US" sz="1600" dirty="0"/>
              <a:t>: </a:t>
            </a:r>
            <a:r>
              <a:rPr lang="en-US" sz="1600" dirty="0" err="1"/>
              <a:t>đọc</a:t>
            </a:r>
            <a:r>
              <a:rPr lang="en-US" sz="1600" dirty="0"/>
              <a:t> </a:t>
            </a:r>
            <a:r>
              <a:rPr lang="en-US" sz="1600" dirty="0" err="1"/>
              <a:t>dữ</a:t>
            </a:r>
            <a:r>
              <a:rPr lang="en-US" sz="1600" dirty="0"/>
              <a:t> </a:t>
            </a:r>
            <a:r>
              <a:rPr lang="en-US" sz="1600" dirty="0" err="1"/>
              <a:t>liệu</a:t>
            </a:r>
            <a:r>
              <a:rPr lang="en-US" sz="1600" dirty="0"/>
              <a:t>, </a:t>
            </a:r>
            <a:r>
              <a:rPr lang="en-US" sz="1600" dirty="0" err="1"/>
              <a:t>kiểm</a:t>
            </a:r>
            <a:r>
              <a:rPr lang="en-US" sz="1600" dirty="0"/>
              <a:t> </a:t>
            </a:r>
            <a:r>
              <a:rPr lang="en-US" sz="1600" dirty="0" err="1"/>
              <a:t>tra</a:t>
            </a:r>
            <a:r>
              <a:rPr lang="en-US" sz="1600" dirty="0"/>
              <a:t> </a:t>
            </a:r>
            <a:r>
              <a:rPr lang="en-US" sz="1600" dirty="0" err="1"/>
              <a:t>dữ</a:t>
            </a:r>
            <a:r>
              <a:rPr lang="en-US" sz="1600" dirty="0"/>
              <a:t> </a:t>
            </a:r>
            <a:r>
              <a:rPr lang="en-US" sz="1600" dirty="0" err="1"/>
              <a:t>liệu</a:t>
            </a:r>
            <a:r>
              <a:rPr lang="en-US" sz="1600" dirty="0"/>
              <a:t>, </a:t>
            </a:r>
            <a:r>
              <a:rPr lang="en-US" sz="1600" dirty="0" err="1"/>
              <a:t>tiền</a:t>
            </a:r>
            <a:r>
              <a:rPr lang="en-US" sz="1600" dirty="0"/>
              <a:t> </a:t>
            </a:r>
            <a:r>
              <a:rPr lang="en-US" sz="1600" dirty="0" err="1"/>
              <a:t>xử</a:t>
            </a:r>
            <a:r>
              <a:rPr lang="en-US" sz="1600" dirty="0"/>
              <a:t> </a:t>
            </a:r>
            <a:r>
              <a:rPr lang="en-US" sz="1600" dirty="0" err="1"/>
              <a:t>lý</a:t>
            </a:r>
            <a:r>
              <a:rPr lang="en-US" sz="1600" dirty="0"/>
              <a:t>, </a:t>
            </a:r>
            <a:r>
              <a:rPr lang="en-US" sz="1600" dirty="0" err="1"/>
              <a:t>phân</a:t>
            </a:r>
            <a:r>
              <a:rPr lang="en-US" sz="1600" dirty="0"/>
              <a:t> </a:t>
            </a:r>
            <a:r>
              <a:rPr lang="en-US" sz="1600" dirty="0" err="1"/>
              <a:t>tích</a:t>
            </a:r>
            <a:r>
              <a:rPr lang="en-US" sz="1600" dirty="0"/>
              <a:t> </a:t>
            </a:r>
            <a:r>
              <a:rPr lang="en-US" sz="1600" dirty="0" err="1"/>
              <a:t>thống</a:t>
            </a:r>
            <a:r>
              <a:rPr lang="en-US" sz="1600" dirty="0"/>
              <a:t> </a:t>
            </a:r>
            <a:r>
              <a:rPr lang="en-US" sz="1600" dirty="0" err="1"/>
              <a:t>kê</a:t>
            </a:r>
            <a:r>
              <a:rPr lang="en-US" sz="1600" dirty="0"/>
              <a:t>, </a:t>
            </a:r>
            <a:r>
              <a:rPr lang="en-US" sz="1600" dirty="0" err="1"/>
              <a:t>trực</a:t>
            </a:r>
            <a:r>
              <a:rPr lang="en-US" sz="1600" dirty="0"/>
              <a:t> </a:t>
            </a:r>
            <a:r>
              <a:rPr lang="en-US" sz="1600" dirty="0" err="1"/>
              <a:t>quan</a:t>
            </a:r>
            <a:r>
              <a:rPr lang="en-US" sz="1600" dirty="0"/>
              <a:t> </a:t>
            </a:r>
            <a:r>
              <a:rPr lang="en-US" sz="1600" dirty="0" err="1"/>
              <a:t>hóa</a:t>
            </a:r>
            <a:r>
              <a:rPr lang="en-US" sz="1600" dirty="0"/>
              <a:t>, </a:t>
            </a:r>
            <a:r>
              <a:rPr lang="en-US" sz="1600" dirty="0" err="1"/>
              <a:t>xây</a:t>
            </a:r>
            <a:r>
              <a:rPr lang="en-US" sz="1600" dirty="0"/>
              <a:t> </a:t>
            </a:r>
            <a:r>
              <a:rPr lang="en-US" sz="1600" dirty="0" err="1"/>
              <a:t>dựng</a:t>
            </a:r>
            <a:r>
              <a:rPr lang="en-US" sz="1600" dirty="0"/>
              <a:t> </a:t>
            </a:r>
            <a:r>
              <a:rPr lang="en-US" sz="1600" dirty="0" err="1"/>
              <a:t>mô</a:t>
            </a:r>
            <a:r>
              <a:rPr lang="en-US" sz="1600" dirty="0"/>
              <a:t> </a:t>
            </a:r>
            <a:r>
              <a:rPr lang="en-US" sz="1600" dirty="0" err="1"/>
              <a:t>hình</a:t>
            </a:r>
            <a:r>
              <a:rPr lang="en-US" sz="1600" dirty="0"/>
              <a:t> </a:t>
            </a:r>
            <a:r>
              <a:rPr lang="en-US" sz="1600" dirty="0" err="1"/>
              <a:t>dự</a:t>
            </a:r>
            <a:r>
              <a:rPr lang="en-US" sz="1600" dirty="0"/>
              <a:t> </a:t>
            </a:r>
            <a:r>
              <a:rPr lang="en-US" sz="1600" dirty="0" err="1"/>
              <a:t>đoán</a:t>
            </a:r>
            <a:r>
              <a:rPr lang="en-US" sz="1600" dirty="0"/>
              <a:t> </a:t>
            </a:r>
            <a:r>
              <a:rPr lang="en-US" sz="1600" dirty="0" err="1"/>
              <a:t>và</a:t>
            </a:r>
            <a:r>
              <a:rPr lang="en-US" sz="1600" dirty="0"/>
              <a:t> </a:t>
            </a:r>
            <a:r>
              <a:rPr lang="en-US" sz="1600" dirty="0" err="1"/>
              <a:t>kết</a:t>
            </a:r>
            <a:r>
              <a:rPr lang="en-US" sz="1600" dirty="0"/>
              <a:t> </a:t>
            </a:r>
            <a:r>
              <a:rPr lang="en-US" sz="1600" dirty="0" err="1"/>
              <a:t>luận</a:t>
            </a:r>
            <a:r>
              <a:rPr lang="en-US" sz="1600" dirty="0"/>
              <a:t>.</a:t>
            </a:r>
          </a:p>
          <a:p>
            <a:pPr algn="just">
              <a:lnSpc>
                <a:spcPct val="100000"/>
              </a:lnSpc>
            </a:pPr>
            <a:r>
              <a:rPr lang="en-US" sz="1600" dirty="0" err="1"/>
              <a:t>Chương</a:t>
            </a:r>
            <a:r>
              <a:rPr lang="en-US" sz="1600" dirty="0"/>
              <a:t> </a:t>
            </a:r>
            <a:r>
              <a:rPr lang="en-US" sz="1600" dirty="0" err="1"/>
              <a:t>trình</a:t>
            </a:r>
            <a:r>
              <a:rPr lang="en-US" sz="1600" dirty="0"/>
              <a:t> </a:t>
            </a:r>
            <a:r>
              <a:rPr lang="en-US" sz="1600" dirty="0" err="1"/>
              <a:t>tiền</a:t>
            </a:r>
            <a:r>
              <a:rPr lang="en-US" sz="1600" dirty="0"/>
              <a:t> </a:t>
            </a:r>
            <a:r>
              <a:rPr lang="en-US" sz="1600" dirty="0" err="1"/>
              <a:t>xử</a:t>
            </a:r>
            <a:r>
              <a:rPr lang="en-US" sz="1600" dirty="0"/>
              <a:t> </a:t>
            </a:r>
            <a:r>
              <a:rPr lang="en-US" sz="1600" dirty="0" err="1"/>
              <a:t>lý</a:t>
            </a:r>
            <a:r>
              <a:rPr lang="en-US" sz="1600" dirty="0"/>
              <a:t> </a:t>
            </a:r>
            <a:r>
              <a:rPr lang="en-US" sz="1600" dirty="0" err="1"/>
              <a:t>thực</a:t>
            </a:r>
            <a:r>
              <a:rPr lang="en-US" sz="1600" dirty="0"/>
              <a:t> </a:t>
            </a:r>
            <a:r>
              <a:rPr lang="en-US" sz="1600" dirty="0" err="1"/>
              <a:t>hiện</a:t>
            </a:r>
            <a:r>
              <a:rPr lang="en-US" sz="1600" dirty="0"/>
              <a:t> </a:t>
            </a:r>
            <a:r>
              <a:rPr lang="en-US" sz="1600" dirty="0" err="1"/>
              <a:t>các</a:t>
            </a:r>
            <a:r>
              <a:rPr lang="en-US" sz="1600" dirty="0"/>
              <a:t> </a:t>
            </a:r>
            <a:r>
              <a:rPr lang="en-US" sz="1600" dirty="0" err="1"/>
              <a:t>thao</a:t>
            </a:r>
            <a:r>
              <a:rPr lang="en-US" sz="1600" dirty="0"/>
              <a:t> </a:t>
            </a:r>
            <a:r>
              <a:rPr lang="en-US" sz="1600" dirty="0" err="1"/>
              <a:t>tác</a:t>
            </a:r>
            <a:r>
              <a:rPr lang="en-US" sz="1600" dirty="0"/>
              <a:t>:</a:t>
            </a:r>
          </a:p>
          <a:p>
            <a:pPr lvl="0" algn="just">
              <a:lnSpc>
                <a:spcPct val="100000"/>
              </a:lnSpc>
            </a:pPr>
            <a:r>
              <a:rPr lang="en-US" sz="1600" dirty="0" err="1"/>
              <a:t>loại</a:t>
            </a:r>
            <a:r>
              <a:rPr lang="en-US" sz="1600" dirty="0"/>
              <a:t> </a:t>
            </a:r>
            <a:r>
              <a:rPr lang="en-US" sz="1600" dirty="0" err="1"/>
              <a:t>bỏ</a:t>
            </a:r>
            <a:r>
              <a:rPr lang="en-US" sz="1600" dirty="0"/>
              <a:t> </a:t>
            </a:r>
            <a:r>
              <a:rPr lang="en-US" sz="1600" dirty="0" err="1"/>
              <a:t>các</a:t>
            </a:r>
            <a:r>
              <a:rPr lang="en-US" sz="1600" dirty="0"/>
              <a:t> </a:t>
            </a:r>
            <a:r>
              <a:rPr lang="en-US" sz="1600" dirty="0" err="1"/>
              <a:t>dòng</a:t>
            </a:r>
            <a:r>
              <a:rPr lang="en-US" sz="1600" dirty="0"/>
              <a:t> </a:t>
            </a:r>
            <a:r>
              <a:rPr lang="en-US" sz="1600" dirty="0" err="1"/>
              <a:t>không</a:t>
            </a:r>
            <a:r>
              <a:rPr lang="en-US" sz="1600" dirty="0"/>
              <a:t> </a:t>
            </a:r>
            <a:r>
              <a:rPr lang="en-US" sz="1600" dirty="0" err="1"/>
              <a:t>đủ</a:t>
            </a:r>
            <a:r>
              <a:rPr lang="en-US" sz="1600" dirty="0"/>
              <a:t> </a:t>
            </a:r>
            <a:r>
              <a:rPr lang="en-US" sz="1600" dirty="0" err="1"/>
              <a:t>dữ</a:t>
            </a:r>
            <a:r>
              <a:rPr lang="en-US" sz="1600" dirty="0"/>
              <a:t> </a:t>
            </a:r>
            <a:r>
              <a:rPr lang="en-US" sz="1600" dirty="0" err="1"/>
              <a:t>liệu</a:t>
            </a:r>
            <a:r>
              <a:rPr lang="en-US" sz="1600" dirty="0"/>
              <a:t>;</a:t>
            </a:r>
          </a:p>
          <a:p>
            <a:pPr lvl="0" algn="just">
              <a:lnSpc>
                <a:spcPct val="100000"/>
              </a:lnSpc>
            </a:pPr>
            <a:r>
              <a:rPr lang="en-US" sz="1600" dirty="0" err="1"/>
              <a:t>chuyển</a:t>
            </a:r>
            <a:r>
              <a:rPr lang="en-US" sz="1600" dirty="0"/>
              <a:t> </a:t>
            </a:r>
            <a:r>
              <a:rPr lang="en-US" sz="1600" dirty="0" err="1"/>
              <a:t>các</a:t>
            </a:r>
            <a:r>
              <a:rPr lang="en-US" sz="1600" dirty="0"/>
              <a:t> </a:t>
            </a:r>
            <a:r>
              <a:rPr lang="en-US" sz="1600" dirty="0" err="1"/>
              <a:t>giá</a:t>
            </a:r>
            <a:r>
              <a:rPr lang="en-US" sz="1600" dirty="0"/>
              <a:t> </a:t>
            </a:r>
            <a:r>
              <a:rPr lang="en-US" sz="1600" dirty="0" err="1"/>
              <a:t>trị</a:t>
            </a:r>
            <a:r>
              <a:rPr lang="en-US" sz="1600" dirty="0"/>
              <a:t> `***` </a:t>
            </a:r>
            <a:r>
              <a:rPr lang="en-US" sz="1600" dirty="0" err="1"/>
              <a:t>thành</a:t>
            </a:r>
            <a:r>
              <a:rPr lang="en-US" sz="1600" dirty="0"/>
              <a:t> `</a:t>
            </a:r>
            <a:r>
              <a:rPr lang="en-US" sz="1600" dirty="0" err="1"/>
              <a:t>NaN</a:t>
            </a:r>
            <a:r>
              <a:rPr lang="en-US" sz="1600" dirty="0"/>
              <a:t>`;</a:t>
            </a:r>
          </a:p>
          <a:p>
            <a:pPr lvl="0" algn="just">
              <a:lnSpc>
                <a:spcPct val="100000"/>
              </a:lnSpc>
            </a:pPr>
            <a:r>
              <a:rPr lang="en-US" sz="1600" dirty="0" err="1"/>
              <a:t>chuẩn</a:t>
            </a:r>
            <a:r>
              <a:rPr lang="en-US" sz="1600" dirty="0"/>
              <a:t> </a:t>
            </a:r>
            <a:r>
              <a:rPr lang="en-US" sz="1600" dirty="0" err="1"/>
              <a:t>hóa</a:t>
            </a:r>
            <a:r>
              <a:rPr lang="en-US" sz="1600" dirty="0"/>
              <a:t> </a:t>
            </a:r>
            <a:r>
              <a:rPr lang="en-US" sz="1600" dirty="0" err="1"/>
              <a:t>tên</a:t>
            </a:r>
            <a:r>
              <a:rPr lang="en-US" sz="1600" dirty="0"/>
              <a:t> </a:t>
            </a:r>
            <a:r>
              <a:rPr lang="en-US" sz="1600" dirty="0" err="1"/>
              <a:t>cột</a:t>
            </a:r>
            <a:r>
              <a:rPr lang="en-US" sz="1600" dirty="0"/>
              <a:t>;</a:t>
            </a:r>
          </a:p>
          <a:p>
            <a:pPr lvl="0" algn="just">
              <a:lnSpc>
                <a:spcPct val="100000"/>
              </a:lnSpc>
            </a:pPr>
            <a:r>
              <a:rPr lang="en-US" sz="1600" dirty="0" err="1"/>
              <a:t>chuyển</a:t>
            </a:r>
            <a:r>
              <a:rPr lang="en-US" sz="1600" dirty="0"/>
              <a:t> </a:t>
            </a:r>
            <a:r>
              <a:rPr lang="en-US" sz="1600" dirty="0" err="1"/>
              <a:t>kiểu</a:t>
            </a:r>
            <a:r>
              <a:rPr lang="en-US" sz="1600" dirty="0"/>
              <a:t> </a:t>
            </a:r>
            <a:r>
              <a:rPr lang="en-US" sz="1600" dirty="0" err="1"/>
              <a:t>dữ</a:t>
            </a:r>
            <a:r>
              <a:rPr lang="en-US" sz="1600" dirty="0"/>
              <a:t> </a:t>
            </a:r>
            <a:r>
              <a:rPr lang="en-US" sz="1600" dirty="0" err="1"/>
              <a:t>liệu</a:t>
            </a:r>
            <a:r>
              <a:rPr lang="en-US" sz="1600" dirty="0"/>
              <a:t> </a:t>
            </a:r>
            <a:r>
              <a:rPr lang="en-US" sz="1600" dirty="0" err="1"/>
              <a:t>thành</a:t>
            </a:r>
            <a:r>
              <a:rPr lang="en-US" sz="1600" dirty="0"/>
              <a:t> </a:t>
            </a:r>
            <a:r>
              <a:rPr lang="en-US" sz="1600" dirty="0" err="1"/>
              <a:t>số</a:t>
            </a:r>
            <a:r>
              <a:rPr lang="en-US" sz="1600" dirty="0"/>
              <a:t> </a:t>
            </a:r>
            <a:r>
              <a:rPr lang="en-US" sz="1600" dirty="0" err="1"/>
              <a:t>thực</a:t>
            </a:r>
            <a:r>
              <a:rPr lang="en-US" sz="1600" dirty="0"/>
              <a:t>;</a:t>
            </a:r>
          </a:p>
          <a:p>
            <a:pPr lvl="0" algn="just">
              <a:lnSpc>
                <a:spcPct val="100000"/>
              </a:lnSpc>
            </a:pPr>
            <a:r>
              <a:rPr lang="en-US" sz="1600" dirty="0" err="1"/>
              <a:t>giới</a:t>
            </a:r>
            <a:r>
              <a:rPr lang="en-US" sz="1600" dirty="0"/>
              <a:t> </a:t>
            </a:r>
            <a:r>
              <a:rPr lang="en-US" sz="1600" dirty="0" err="1"/>
              <a:t>hạn</a:t>
            </a:r>
            <a:r>
              <a:rPr lang="en-US" sz="1600" dirty="0"/>
              <a:t> </a:t>
            </a:r>
            <a:r>
              <a:rPr lang="en-US" sz="1600" dirty="0" err="1"/>
              <a:t>dữ</a:t>
            </a:r>
            <a:r>
              <a:rPr lang="en-US" sz="1600" dirty="0"/>
              <a:t> </a:t>
            </a:r>
            <a:r>
              <a:rPr lang="en-US" sz="1600" dirty="0" err="1"/>
              <a:t>liệu</a:t>
            </a:r>
            <a:r>
              <a:rPr lang="en-US" sz="1600" dirty="0"/>
              <a:t> </a:t>
            </a:r>
            <a:r>
              <a:rPr lang="en-US" sz="1600" dirty="0" err="1"/>
              <a:t>trong</a:t>
            </a:r>
            <a:r>
              <a:rPr lang="en-US" sz="1600" dirty="0"/>
              <a:t> </a:t>
            </a:r>
            <a:r>
              <a:rPr lang="en-US" sz="1600" dirty="0" err="1"/>
              <a:t>khoảng</a:t>
            </a:r>
            <a:r>
              <a:rPr lang="en-US" sz="1600" dirty="0"/>
              <a:t> </a:t>
            </a:r>
            <a:r>
              <a:rPr lang="en-US" sz="1600" dirty="0" err="1"/>
              <a:t>năm</a:t>
            </a:r>
            <a:r>
              <a:rPr lang="en-US" sz="1600" dirty="0"/>
              <a:t> 1880–2025.</a:t>
            </a:r>
          </a:p>
          <a:p>
            <a:pPr algn="just">
              <a:lnSpc>
                <a:spcPct val="100000"/>
              </a:lnSpc>
            </a:pPr>
            <a:endParaRPr lang="en-US" sz="1600" dirty="0"/>
          </a:p>
        </p:txBody>
      </p:sp>
      <p:pic>
        <p:nvPicPr>
          <p:cNvPr id="6" name="Picture 5">
            <a:extLst>
              <a:ext uri="{FF2B5EF4-FFF2-40B4-BE49-F238E27FC236}">
                <a16:creationId xmlns:a16="http://schemas.microsoft.com/office/drawing/2014/main" id="{E88CFFB7-3AC8-E1F8-0788-BECC91F84B52}"/>
              </a:ext>
            </a:extLst>
          </p:cNvPr>
          <p:cNvPicPr>
            <a:picLocks noChangeAspect="1"/>
          </p:cNvPicPr>
          <p:nvPr/>
        </p:nvPicPr>
        <p:blipFill>
          <a:blip r:embed="rId2"/>
          <a:stretch>
            <a:fillRect/>
          </a:stretch>
        </p:blipFill>
        <p:spPr>
          <a:xfrm>
            <a:off x="5350036" y="5516154"/>
            <a:ext cx="6692331" cy="1263357"/>
          </a:xfrm>
          <a:prstGeom prst="rect">
            <a:avLst/>
          </a:prstGeom>
        </p:spPr>
      </p:pic>
      <p:pic>
        <p:nvPicPr>
          <p:cNvPr id="4" name="Picture 3">
            <a:extLst>
              <a:ext uri="{FF2B5EF4-FFF2-40B4-BE49-F238E27FC236}">
                <a16:creationId xmlns:a16="http://schemas.microsoft.com/office/drawing/2014/main" id="{63C4701F-A823-B666-8ED2-E75CF06B42E3}"/>
              </a:ext>
            </a:extLst>
          </p:cNvPr>
          <p:cNvPicPr>
            <a:picLocks noChangeAspect="1"/>
          </p:cNvPicPr>
          <p:nvPr/>
        </p:nvPicPr>
        <p:blipFill>
          <a:blip r:embed="rId3"/>
          <a:srcRect l="3431" r="49392" b="1"/>
          <a:stretch>
            <a:fillRect/>
          </a:stretch>
        </p:blipFill>
        <p:spPr>
          <a:xfrm>
            <a:off x="7057518" y="379626"/>
            <a:ext cx="4984849" cy="4966097"/>
          </a:xfrm>
          <a:prstGeom prst="rect">
            <a:avLst/>
          </a:prstGeom>
        </p:spPr>
      </p:pic>
    </p:spTree>
    <p:extLst>
      <p:ext uri="{BB962C8B-B14F-4D97-AF65-F5344CB8AC3E}">
        <p14:creationId xmlns:p14="http://schemas.microsoft.com/office/powerpoint/2010/main" val="2994780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Freeform: Shape 40">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Freeform: Shape 41">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35A479-94FC-96B1-2AFE-0E22E2B1E49A}"/>
              </a:ext>
            </a:extLst>
          </p:cNvPr>
          <p:cNvSpPr>
            <a:spLocks noGrp="1"/>
          </p:cNvSpPr>
          <p:nvPr>
            <p:ph type="title"/>
          </p:nvPr>
        </p:nvSpPr>
        <p:spPr>
          <a:xfrm>
            <a:off x="438913" y="859536"/>
            <a:ext cx="4832802" cy="1170432"/>
          </a:xfrm>
        </p:spPr>
        <p:txBody>
          <a:bodyPr anchor="b">
            <a:normAutofit/>
          </a:bodyPr>
          <a:lstStyle/>
          <a:p>
            <a:r>
              <a:rPr lang="en-US" sz="3400" b="1"/>
              <a:t>Xây dựng chương trình dự đoán</a:t>
            </a:r>
            <a:endParaRPr lang="en-US" sz="3400"/>
          </a:p>
        </p:txBody>
      </p:sp>
      <p:sp>
        <p:nvSpPr>
          <p:cNvPr id="43" name="Rectangle 42">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E1D8F943-493D-14CA-2A47-313B30F5E8C1}"/>
              </a:ext>
            </a:extLst>
          </p:cNvPr>
          <p:cNvSpPr>
            <a:spLocks noGrp="1"/>
          </p:cNvSpPr>
          <p:nvPr>
            <p:ph idx="1"/>
          </p:nvPr>
        </p:nvSpPr>
        <p:spPr>
          <a:xfrm>
            <a:off x="438912" y="2512611"/>
            <a:ext cx="4832803" cy="4194628"/>
          </a:xfrm>
        </p:spPr>
        <p:txBody>
          <a:bodyPr>
            <a:normAutofit/>
          </a:bodyPr>
          <a:lstStyle/>
          <a:p>
            <a:pPr>
              <a:lnSpc>
                <a:spcPct val="100000"/>
              </a:lnSpc>
            </a:pPr>
            <a:r>
              <a:rPr lang="en-US" sz="1800" dirty="0" err="1"/>
              <a:t>Chương</a:t>
            </a:r>
            <a:r>
              <a:rPr lang="en-US" sz="1800" dirty="0"/>
              <a:t> </a:t>
            </a:r>
            <a:r>
              <a:rPr lang="en-US" sz="1800" dirty="0" err="1"/>
              <a:t>trình</a:t>
            </a:r>
            <a:r>
              <a:rPr lang="en-US" sz="1800" dirty="0"/>
              <a:t> </a:t>
            </a:r>
            <a:r>
              <a:rPr lang="en-US" sz="1800" dirty="0" err="1"/>
              <a:t>dự</a:t>
            </a:r>
            <a:r>
              <a:rPr lang="en-US" sz="1800" dirty="0"/>
              <a:t> </a:t>
            </a:r>
            <a:r>
              <a:rPr lang="en-US" sz="1800" dirty="0" err="1"/>
              <a:t>đoán</a:t>
            </a:r>
            <a:r>
              <a:rPr lang="en-US" sz="1800" dirty="0"/>
              <a:t> </a:t>
            </a:r>
            <a:r>
              <a:rPr lang="en-US" sz="1800" dirty="0" err="1"/>
              <a:t>được</a:t>
            </a:r>
            <a:r>
              <a:rPr lang="en-US" sz="1800" dirty="0"/>
              <a:t> </a:t>
            </a:r>
            <a:r>
              <a:rPr lang="en-US" sz="1800" dirty="0" err="1"/>
              <a:t>xây</a:t>
            </a:r>
            <a:r>
              <a:rPr lang="en-US" sz="1800" dirty="0"/>
              <a:t> </a:t>
            </a:r>
            <a:r>
              <a:rPr lang="en-US" sz="1800" dirty="0" err="1"/>
              <a:t>dựng</a:t>
            </a:r>
            <a:r>
              <a:rPr lang="en-US" sz="1800" dirty="0"/>
              <a:t> </a:t>
            </a:r>
            <a:r>
              <a:rPr lang="en-US" sz="1800" dirty="0" err="1"/>
              <a:t>theo</a:t>
            </a:r>
            <a:r>
              <a:rPr lang="en-US" sz="1800" dirty="0"/>
              <a:t> </a:t>
            </a:r>
            <a:r>
              <a:rPr lang="en-US" sz="1800" dirty="0" err="1"/>
              <a:t>hai</a:t>
            </a:r>
            <a:r>
              <a:rPr lang="en-US" sz="1800" dirty="0"/>
              <a:t> </a:t>
            </a:r>
            <a:r>
              <a:rPr lang="en-US" sz="1800" dirty="0" err="1"/>
              <a:t>tầng</a:t>
            </a:r>
            <a:r>
              <a:rPr lang="en-US" sz="1800" dirty="0"/>
              <a:t> </a:t>
            </a:r>
            <a:r>
              <a:rPr lang="en-US" sz="1800" dirty="0" err="1"/>
              <a:t>chính</a:t>
            </a:r>
            <a:r>
              <a:rPr lang="en-US" sz="1800" dirty="0"/>
              <a:t>. </a:t>
            </a:r>
            <a:r>
              <a:rPr lang="en-US" sz="1800" dirty="0" err="1"/>
              <a:t>Tầng</a:t>
            </a:r>
            <a:r>
              <a:rPr lang="en-US" sz="1800" dirty="0"/>
              <a:t> </a:t>
            </a:r>
            <a:r>
              <a:rPr lang="en-US" sz="1800" dirty="0" err="1"/>
              <a:t>đầu</a:t>
            </a:r>
            <a:r>
              <a:rPr lang="en-US" sz="1800" dirty="0"/>
              <a:t> </a:t>
            </a:r>
            <a:r>
              <a:rPr lang="en-US" sz="1800" dirty="0" err="1"/>
              <a:t>tiên</a:t>
            </a:r>
            <a:r>
              <a:rPr lang="en-US" sz="1800" dirty="0"/>
              <a:t> là </a:t>
            </a:r>
            <a:r>
              <a:rPr lang="en-US" sz="1800" dirty="0" err="1"/>
              <a:t>mô</a:t>
            </a:r>
            <a:r>
              <a:rPr lang="en-US" sz="1800" dirty="0"/>
              <a:t> </a:t>
            </a:r>
            <a:r>
              <a:rPr lang="en-US" sz="1800" dirty="0" err="1"/>
              <a:t>hình</a:t>
            </a:r>
            <a:r>
              <a:rPr lang="en-US" sz="1800" dirty="0"/>
              <a:t> </a:t>
            </a:r>
            <a:r>
              <a:rPr lang="en-US" sz="1800" dirty="0" err="1"/>
              <a:t>hồi</a:t>
            </a:r>
            <a:r>
              <a:rPr lang="en-US" sz="1800" dirty="0"/>
              <a:t> </a:t>
            </a:r>
            <a:r>
              <a:rPr lang="en-US" sz="1800" dirty="0" err="1"/>
              <a:t>quy</a:t>
            </a:r>
            <a:r>
              <a:rPr lang="en-US" sz="1800" dirty="0"/>
              <a:t> </a:t>
            </a:r>
            <a:r>
              <a:rPr lang="en-US" sz="1800" dirty="0" err="1"/>
              <a:t>tuyến</a:t>
            </a:r>
            <a:r>
              <a:rPr lang="en-US" sz="1800" dirty="0"/>
              <a:t> </a:t>
            </a:r>
            <a:r>
              <a:rPr lang="en-US" sz="1800" dirty="0" err="1"/>
              <a:t>tính</a:t>
            </a:r>
            <a:r>
              <a:rPr lang="en-US" sz="1800" dirty="0"/>
              <a:t> </a:t>
            </a:r>
            <a:r>
              <a:rPr lang="en-US" sz="1800" dirty="0" err="1"/>
              <a:t>trên</a:t>
            </a:r>
            <a:r>
              <a:rPr lang="en-US" sz="1800" dirty="0"/>
              <a:t> </a:t>
            </a:r>
            <a:r>
              <a:rPr lang="en-US" sz="1800" dirty="0" err="1"/>
              <a:t>biến</a:t>
            </a:r>
            <a:r>
              <a:rPr lang="en-US" sz="1800" dirty="0"/>
              <a:t> </a:t>
            </a:r>
            <a:r>
              <a:rPr lang="en-US" sz="1800" dirty="0" err="1"/>
              <a:t>thời</a:t>
            </a:r>
            <a:r>
              <a:rPr lang="en-US" sz="1800" dirty="0"/>
              <a:t> </a:t>
            </a:r>
            <a:r>
              <a:rPr lang="en-US" sz="1800" dirty="0" err="1"/>
              <a:t>gian</a:t>
            </a:r>
            <a:r>
              <a:rPr lang="en-US" sz="1800" dirty="0"/>
              <a:t> (`Year`) </a:t>
            </a:r>
            <a:r>
              <a:rPr lang="en-US" sz="1800" dirty="0" err="1"/>
              <a:t>để</a:t>
            </a:r>
            <a:r>
              <a:rPr lang="en-US" sz="1800" dirty="0"/>
              <a:t> </a:t>
            </a:r>
            <a:r>
              <a:rPr lang="en-US" sz="1800" dirty="0" err="1"/>
              <a:t>ước</a:t>
            </a:r>
            <a:r>
              <a:rPr lang="en-US" sz="1800" dirty="0"/>
              <a:t> </a:t>
            </a:r>
            <a:r>
              <a:rPr lang="en-US" sz="1800" dirty="0" err="1"/>
              <a:t>lượng</a:t>
            </a:r>
            <a:r>
              <a:rPr lang="en-US" sz="1800" dirty="0"/>
              <a:t> xu </a:t>
            </a:r>
            <a:r>
              <a:rPr lang="en-US" sz="1800" dirty="0" err="1"/>
              <a:t>hướng</a:t>
            </a:r>
            <a:r>
              <a:rPr lang="en-US" sz="1800" dirty="0"/>
              <a:t> </a:t>
            </a:r>
            <a:r>
              <a:rPr lang="en-US" sz="1800" dirty="0" err="1"/>
              <a:t>trung</a:t>
            </a:r>
            <a:r>
              <a:rPr lang="en-US" sz="1800" dirty="0"/>
              <a:t> </a:t>
            </a:r>
            <a:r>
              <a:rPr lang="en-US" sz="1800" dirty="0" err="1"/>
              <a:t>bình</a:t>
            </a:r>
            <a:r>
              <a:rPr lang="en-US" sz="1800" dirty="0"/>
              <a:t> </a:t>
            </a:r>
            <a:r>
              <a:rPr lang="en-US" sz="1800" dirty="0" err="1"/>
              <a:t>của</a:t>
            </a:r>
            <a:r>
              <a:rPr lang="en-US" sz="1800" dirty="0"/>
              <a:t> </a:t>
            </a:r>
            <a:r>
              <a:rPr lang="en-US" sz="1800" dirty="0" err="1"/>
              <a:t>nhiệt</a:t>
            </a:r>
            <a:r>
              <a:rPr lang="en-US" sz="1800" dirty="0"/>
              <a:t> </a:t>
            </a:r>
            <a:r>
              <a:rPr lang="en-US" sz="1800" dirty="0" err="1"/>
              <a:t>độ</a:t>
            </a:r>
            <a:r>
              <a:rPr lang="en-US" sz="1800" dirty="0"/>
              <a:t> </a:t>
            </a:r>
            <a:r>
              <a:rPr lang="en-US" sz="1800" dirty="0" err="1"/>
              <a:t>bất</a:t>
            </a:r>
            <a:r>
              <a:rPr lang="en-US" sz="1800" dirty="0"/>
              <a:t> </a:t>
            </a:r>
            <a:r>
              <a:rPr lang="en-US" sz="1800" dirty="0" err="1"/>
              <a:t>thường</a:t>
            </a:r>
            <a:r>
              <a:rPr lang="en-US" sz="1800" dirty="0"/>
              <a:t>. </a:t>
            </a:r>
          </a:p>
          <a:p>
            <a:pPr>
              <a:lnSpc>
                <a:spcPct val="100000"/>
              </a:lnSpc>
            </a:pPr>
            <a:r>
              <a:rPr lang="en-US" sz="1800" dirty="0" err="1"/>
              <a:t>Tầng</a:t>
            </a:r>
            <a:r>
              <a:rPr lang="en-US" sz="1800" dirty="0"/>
              <a:t> </a:t>
            </a:r>
            <a:r>
              <a:rPr lang="en-US" sz="1800" dirty="0" err="1"/>
              <a:t>thứ</a:t>
            </a:r>
            <a:r>
              <a:rPr lang="en-US" sz="1800" dirty="0"/>
              <a:t> </a:t>
            </a:r>
            <a:r>
              <a:rPr lang="en-US" sz="1800" dirty="0" err="1"/>
              <a:t>hai</a:t>
            </a:r>
            <a:r>
              <a:rPr lang="en-US" sz="1800" dirty="0"/>
              <a:t> là </a:t>
            </a:r>
            <a:r>
              <a:rPr lang="en-US" sz="1800" dirty="0" err="1"/>
              <a:t>hai</a:t>
            </a:r>
            <a:r>
              <a:rPr lang="en-US" sz="1800" dirty="0"/>
              <a:t> </a:t>
            </a:r>
            <a:r>
              <a:rPr lang="en-US" sz="1800" dirty="0" err="1"/>
              <a:t>phương</a:t>
            </a:r>
            <a:r>
              <a:rPr lang="en-US" sz="1800" dirty="0"/>
              <a:t> </a:t>
            </a:r>
            <a:r>
              <a:rPr lang="en-US" sz="1800" dirty="0" err="1"/>
              <a:t>pháp</a:t>
            </a:r>
            <a:r>
              <a:rPr lang="en-US" sz="1800" dirty="0"/>
              <a:t> </a:t>
            </a:r>
            <a:r>
              <a:rPr lang="en-US" sz="1800" dirty="0" err="1"/>
              <a:t>hỗ</a:t>
            </a:r>
            <a:r>
              <a:rPr lang="en-US" sz="1800" dirty="0"/>
              <a:t> </a:t>
            </a:r>
            <a:r>
              <a:rPr lang="en-US" sz="1800" dirty="0" err="1"/>
              <a:t>trợ</a:t>
            </a:r>
            <a:r>
              <a:rPr lang="en-US" sz="1800" dirty="0"/>
              <a:t>: </a:t>
            </a:r>
            <a:r>
              <a:rPr lang="en-US" sz="1800" dirty="0" err="1"/>
              <a:t>phân</a:t>
            </a:r>
            <a:r>
              <a:rPr lang="en-US" sz="1800" dirty="0"/>
              <a:t> </a:t>
            </a:r>
            <a:r>
              <a:rPr lang="en-US" sz="1800" dirty="0" err="1"/>
              <a:t>cụm</a:t>
            </a:r>
            <a:r>
              <a:rPr lang="en-US" sz="1800" dirty="0"/>
              <a:t> </a:t>
            </a:r>
            <a:r>
              <a:rPr lang="en-US" sz="1800" dirty="0" err="1"/>
              <a:t>theo</a:t>
            </a:r>
            <a:r>
              <a:rPr lang="en-US" sz="1800" dirty="0"/>
              <a:t> </a:t>
            </a:r>
            <a:r>
              <a:rPr lang="en-US" sz="1800" dirty="0" err="1"/>
              <a:t>thập</a:t>
            </a:r>
            <a:r>
              <a:rPr lang="en-US" sz="1800" dirty="0"/>
              <a:t> </a:t>
            </a:r>
            <a:r>
              <a:rPr lang="en-US" sz="1800" dirty="0" err="1"/>
              <a:t>kỷ</a:t>
            </a:r>
            <a:r>
              <a:rPr lang="en-US" sz="1800" dirty="0"/>
              <a:t> </a:t>
            </a:r>
            <a:r>
              <a:rPr lang="en-US" sz="1800" dirty="0" err="1"/>
              <a:t>bằng</a:t>
            </a:r>
            <a:r>
              <a:rPr lang="en-US" sz="1800" dirty="0"/>
              <a:t> </a:t>
            </a:r>
            <a:r>
              <a:rPr lang="en-US" sz="1800" dirty="0" err="1"/>
              <a:t>KMeans</a:t>
            </a:r>
            <a:r>
              <a:rPr lang="en-US" sz="1800" dirty="0"/>
              <a:t> </a:t>
            </a:r>
            <a:r>
              <a:rPr lang="en-US" sz="1800" dirty="0" err="1"/>
              <a:t>để</a:t>
            </a:r>
            <a:r>
              <a:rPr lang="en-US" sz="1800" dirty="0"/>
              <a:t> </a:t>
            </a:r>
            <a:r>
              <a:rPr lang="en-US" sz="1800" dirty="0" err="1"/>
              <a:t>xác</a:t>
            </a:r>
            <a:r>
              <a:rPr lang="en-US" sz="1800" dirty="0"/>
              <a:t> </a:t>
            </a:r>
            <a:r>
              <a:rPr lang="en-US" sz="1800" dirty="0" err="1"/>
              <a:t>định</a:t>
            </a:r>
            <a:r>
              <a:rPr lang="en-US" sz="1800" dirty="0"/>
              <a:t> </a:t>
            </a:r>
            <a:r>
              <a:rPr lang="en-US" sz="1800" dirty="0" err="1"/>
              <a:t>nhóm</a:t>
            </a:r>
            <a:r>
              <a:rPr lang="en-US" sz="1800" dirty="0"/>
              <a:t> xu </a:t>
            </a:r>
            <a:r>
              <a:rPr lang="en-US" sz="1800" dirty="0" err="1"/>
              <a:t>hướng</a:t>
            </a:r>
            <a:r>
              <a:rPr lang="en-US" sz="1800" dirty="0"/>
              <a:t> </a:t>
            </a:r>
            <a:r>
              <a:rPr lang="en-US" sz="1800" dirty="0" err="1"/>
              <a:t>tương</a:t>
            </a:r>
            <a:r>
              <a:rPr lang="en-US" sz="1800" dirty="0"/>
              <a:t> </a:t>
            </a:r>
            <a:r>
              <a:rPr lang="en-US" sz="1800" dirty="0" err="1"/>
              <a:t>đồng</a:t>
            </a:r>
            <a:r>
              <a:rPr lang="en-US" sz="1800" dirty="0"/>
              <a:t>, </a:t>
            </a:r>
            <a:r>
              <a:rPr lang="en-US" sz="1800" dirty="0" err="1"/>
              <a:t>và</a:t>
            </a:r>
            <a:r>
              <a:rPr lang="en-US" sz="1800" dirty="0"/>
              <a:t> </a:t>
            </a:r>
            <a:r>
              <a:rPr lang="en-US" sz="1800" dirty="0" err="1"/>
              <a:t>phân</a:t>
            </a:r>
            <a:r>
              <a:rPr lang="en-US" sz="1800" dirty="0"/>
              <a:t> </a:t>
            </a:r>
            <a:r>
              <a:rPr lang="en-US" sz="1800" dirty="0" err="1"/>
              <a:t>lớp</a:t>
            </a:r>
            <a:r>
              <a:rPr lang="en-US" sz="1800" dirty="0"/>
              <a:t> </a:t>
            </a:r>
            <a:r>
              <a:rPr lang="en-US" sz="1800" dirty="0" err="1"/>
              <a:t>theo</a:t>
            </a:r>
            <a:r>
              <a:rPr lang="en-US" sz="1800" dirty="0"/>
              <a:t> </a:t>
            </a:r>
            <a:r>
              <a:rPr lang="en-US" sz="1800" dirty="0" err="1"/>
              <a:t>ngưỡng</a:t>
            </a:r>
            <a:r>
              <a:rPr lang="en-US" sz="1800" dirty="0"/>
              <a:t> 0°C </a:t>
            </a:r>
            <a:r>
              <a:rPr lang="en-US" sz="1800" dirty="0" err="1"/>
              <a:t>để</a:t>
            </a:r>
            <a:r>
              <a:rPr lang="en-US" sz="1800" dirty="0"/>
              <a:t> </a:t>
            </a:r>
            <a:r>
              <a:rPr lang="en-US" sz="1800" dirty="0" err="1"/>
              <a:t>đánh</a:t>
            </a:r>
            <a:r>
              <a:rPr lang="en-US" sz="1800" dirty="0"/>
              <a:t> </a:t>
            </a:r>
            <a:r>
              <a:rPr lang="en-US" sz="1800" dirty="0" err="1"/>
              <a:t>giá</a:t>
            </a:r>
            <a:r>
              <a:rPr lang="en-US" sz="1800" dirty="0"/>
              <a:t> </a:t>
            </a:r>
            <a:r>
              <a:rPr lang="en-US" sz="1800" dirty="0" err="1"/>
              <a:t>mức</a:t>
            </a:r>
            <a:r>
              <a:rPr lang="en-US" sz="1800" dirty="0"/>
              <a:t> </a:t>
            </a:r>
            <a:r>
              <a:rPr lang="en-US" sz="1800" dirty="0" err="1"/>
              <a:t>độ</a:t>
            </a:r>
            <a:r>
              <a:rPr lang="en-US" sz="1800" dirty="0"/>
              <a:t> </a:t>
            </a:r>
            <a:r>
              <a:rPr lang="en-US" sz="1800" dirty="0" err="1"/>
              <a:t>nóng</a:t>
            </a:r>
            <a:r>
              <a:rPr lang="en-US" sz="1800" dirty="0"/>
              <a:t>/</a:t>
            </a:r>
            <a:r>
              <a:rPr lang="en-US" sz="1800" dirty="0" err="1"/>
              <a:t>lạnh</a:t>
            </a:r>
            <a:r>
              <a:rPr lang="en-US" sz="1800" dirty="0"/>
              <a:t> qua </a:t>
            </a:r>
            <a:r>
              <a:rPr lang="en-US" sz="1800" dirty="0" err="1"/>
              <a:t>từng</a:t>
            </a:r>
            <a:r>
              <a:rPr lang="en-US" sz="1800" dirty="0"/>
              <a:t> </a:t>
            </a:r>
            <a:r>
              <a:rPr lang="en-US" sz="1800" dirty="0" err="1"/>
              <a:t>thập</a:t>
            </a:r>
            <a:r>
              <a:rPr lang="en-US" sz="1800" dirty="0"/>
              <a:t> </a:t>
            </a:r>
            <a:r>
              <a:rPr lang="en-US" sz="1800" dirty="0" err="1"/>
              <a:t>kỷ</a:t>
            </a:r>
            <a:r>
              <a:rPr lang="en-US" sz="1800" dirty="0"/>
              <a:t>. </a:t>
            </a:r>
            <a:r>
              <a:rPr lang="en-US" sz="1800" dirty="0" err="1"/>
              <a:t>Cấu</a:t>
            </a:r>
            <a:r>
              <a:rPr lang="en-US" sz="1800" dirty="0"/>
              <a:t> </a:t>
            </a:r>
            <a:r>
              <a:rPr lang="en-US" sz="1800" dirty="0" err="1"/>
              <a:t>trúc</a:t>
            </a:r>
            <a:r>
              <a:rPr lang="en-US" sz="1800" dirty="0"/>
              <a:t> </a:t>
            </a:r>
            <a:r>
              <a:rPr lang="en-US" sz="1800" dirty="0" err="1"/>
              <a:t>này</a:t>
            </a:r>
            <a:r>
              <a:rPr lang="en-US" sz="1800" dirty="0"/>
              <a:t> </a:t>
            </a:r>
            <a:r>
              <a:rPr lang="en-US" sz="1800" dirty="0" err="1"/>
              <a:t>giúp</a:t>
            </a:r>
            <a:r>
              <a:rPr lang="en-US" sz="1800" dirty="0"/>
              <a:t> </a:t>
            </a:r>
            <a:r>
              <a:rPr lang="en-US" sz="1800" dirty="0" err="1"/>
              <a:t>kết</a:t>
            </a:r>
            <a:r>
              <a:rPr lang="en-US" sz="1800" dirty="0"/>
              <a:t> </a:t>
            </a:r>
            <a:r>
              <a:rPr lang="en-US" sz="1800" dirty="0" err="1"/>
              <a:t>quả</a:t>
            </a:r>
            <a:r>
              <a:rPr lang="en-US" sz="1800" dirty="0"/>
              <a:t> </a:t>
            </a:r>
            <a:r>
              <a:rPr lang="en-US" sz="1800" dirty="0" err="1"/>
              <a:t>dự</a:t>
            </a:r>
            <a:r>
              <a:rPr lang="en-US" sz="1800" dirty="0"/>
              <a:t> </a:t>
            </a:r>
            <a:r>
              <a:rPr lang="en-US" sz="1800" dirty="0" err="1"/>
              <a:t>đoán</a:t>
            </a:r>
            <a:r>
              <a:rPr lang="en-US" sz="1800" dirty="0"/>
              <a:t> </a:t>
            </a:r>
            <a:r>
              <a:rPr lang="en-US" sz="1800" dirty="0" err="1"/>
              <a:t>không</a:t>
            </a:r>
            <a:r>
              <a:rPr lang="en-US" sz="1800" dirty="0"/>
              <a:t> </a:t>
            </a:r>
            <a:r>
              <a:rPr lang="en-US" sz="1800" dirty="0" err="1"/>
              <a:t>chỉ</a:t>
            </a:r>
            <a:r>
              <a:rPr lang="en-US" sz="1800" dirty="0"/>
              <a:t> là </a:t>
            </a:r>
            <a:r>
              <a:rPr lang="en-US" sz="1800" dirty="0" err="1"/>
              <a:t>một</a:t>
            </a:r>
            <a:r>
              <a:rPr lang="en-US" sz="1800" dirty="0"/>
              <a:t> con </a:t>
            </a:r>
            <a:r>
              <a:rPr lang="en-US" sz="1800" dirty="0" err="1"/>
              <a:t>số</a:t>
            </a:r>
            <a:r>
              <a:rPr lang="en-US" sz="1800" dirty="0"/>
              <a:t> </a:t>
            </a:r>
            <a:r>
              <a:rPr lang="en-US" sz="1800" dirty="0" err="1"/>
              <a:t>đơn</a:t>
            </a:r>
            <a:r>
              <a:rPr lang="en-US" sz="1800" dirty="0"/>
              <a:t> </a:t>
            </a:r>
            <a:r>
              <a:rPr lang="en-US" sz="1800" dirty="0" err="1"/>
              <a:t>lẻ</a:t>
            </a:r>
            <a:r>
              <a:rPr lang="en-US" sz="1800" dirty="0"/>
              <a:t>, </a:t>
            </a:r>
            <a:r>
              <a:rPr lang="en-US" sz="1800" dirty="0" err="1"/>
              <a:t>mà</a:t>
            </a:r>
            <a:r>
              <a:rPr lang="en-US" sz="1800" dirty="0"/>
              <a:t> </a:t>
            </a:r>
            <a:r>
              <a:rPr lang="en-US" sz="1800" dirty="0" err="1"/>
              <a:t>còn</a:t>
            </a:r>
            <a:r>
              <a:rPr lang="en-US" sz="1800" dirty="0"/>
              <a:t> </a:t>
            </a:r>
            <a:r>
              <a:rPr lang="en-US" sz="1800" dirty="0" err="1"/>
              <a:t>đi</a:t>
            </a:r>
            <a:r>
              <a:rPr lang="en-US" sz="1800" dirty="0"/>
              <a:t> </a:t>
            </a:r>
            <a:r>
              <a:rPr lang="en-US" sz="1800" dirty="0" err="1"/>
              <a:t>kèm</a:t>
            </a:r>
            <a:r>
              <a:rPr lang="en-US" sz="1800" dirty="0"/>
              <a:t> </a:t>
            </a:r>
            <a:r>
              <a:rPr lang="en-US" sz="1800" dirty="0" err="1"/>
              <a:t>bằng</a:t>
            </a:r>
            <a:r>
              <a:rPr lang="en-US" sz="1800" dirty="0"/>
              <a:t> </a:t>
            </a:r>
            <a:r>
              <a:rPr lang="en-US" sz="1800" dirty="0" err="1"/>
              <a:t>phân</a:t>
            </a:r>
            <a:r>
              <a:rPr lang="en-US" sz="1800" dirty="0"/>
              <a:t> </a:t>
            </a:r>
            <a:r>
              <a:rPr lang="en-US" sz="1800" dirty="0" err="1"/>
              <a:t>tích</a:t>
            </a:r>
            <a:r>
              <a:rPr lang="en-US" sz="1800" dirty="0"/>
              <a:t> </a:t>
            </a:r>
            <a:r>
              <a:rPr lang="en-US" sz="1800" dirty="0" err="1"/>
              <a:t>nhóm</a:t>
            </a:r>
            <a:r>
              <a:rPr lang="en-US" sz="1800" dirty="0"/>
              <a:t> </a:t>
            </a:r>
            <a:r>
              <a:rPr lang="en-US" sz="1800" dirty="0" err="1"/>
              <a:t>và</a:t>
            </a:r>
            <a:r>
              <a:rPr lang="en-US" sz="1800" dirty="0"/>
              <a:t> </a:t>
            </a:r>
            <a:r>
              <a:rPr lang="en-US" sz="1800" dirty="0" err="1"/>
              <a:t>phân</a:t>
            </a:r>
            <a:r>
              <a:rPr lang="en-US" sz="1800" dirty="0"/>
              <a:t> </a:t>
            </a:r>
            <a:r>
              <a:rPr lang="en-US" sz="1800" dirty="0" err="1"/>
              <a:t>loại</a:t>
            </a:r>
            <a:r>
              <a:rPr lang="en-US" sz="1800" dirty="0"/>
              <a:t> </a:t>
            </a:r>
            <a:r>
              <a:rPr lang="en-US" sz="1800" dirty="0" err="1"/>
              <a:t>để</a:t>
            </a:r>
            <a:r>
              <a:rPr lang="en-US" sz="1800" dirty="0"/>
              <a:t> </a:t>
            </a:r>
            <a:r>
              <a:rPr lang="en-US" sz="1800" dirty="0" err="1"/>
              <a:t>tăng</a:t>
            </a:r>
            <a:r>
              <a:rPr lang="en-US" sz="1800" dirty="0"/>
              <a:t> </a:t>
            </a:r>
            <a:r>
              <a:rPr lang="en-US" sz="1800" dirty="0" err="1"/>
              <a:t>tính</a:t>
            </a:r>
            <a:r>
              <a:rPr lang="en-US" sz="1800" dirty="0"/>
              <a:t> </a:t>
            </a:r>
            <a:r>
              <a:rPr lang="en-US" sz="1800" dirty="0" err="1"/>
              <a:t>giải</a:t>
            </a:r>
            <a:r>
              <a:rPr lang="en-US" sz="1800" dirty="0"/>
              <a:t> </a:t>
            </a:r>
            <a:r>
              <a:rPr lang="en-US" sz="1800" dirty="0" err="1"/>
              <a:t>thích</a:t>
            </a:r>
            <a:endParaRPr lang="en-US" sz="1800" dirty="0"/>
          </a:p>
          <a:p>
            <a:pPr>
              <a:lnSpc>
                <a:spcPct val="100000"/>
              </a:lnSpc>
            </a:pPr>
            <a:endParaRPr lang="en-US" sz="1800" dirty="0"/>
          </a:p>
        </p:txBody>
      </p:sp>
      <p:pic>
        <p:nvPicPr>
          <p:cNvPr id="7" name="Picture 6">
            <a:extLst>
              <a:ext uri="{FF2B5EF4-FFF2-40B4-BE49-F238E27FC236}">
                <a16:creationId xmlns:a16="http://schemas.microsoft.com/office/drawing/2014/main" id="{F9ABEC35-C578-D892-BFC5-FED776B6B242}"/>
              </a:ext>
            </a:extLst>
          </p:cNvPr>
          <p:cNvPicPr>
            <a:picLocks noChangeAspect="1"/>
          </p:cNvPicPr>
          <p:nvPr/>
        </p:nvPicPr>
        <p:blipFill>
          <a:blip r:embed="rId2"/>
          <a:stretch>
            <a:fillRect/>
          </a:stretch>
        </p:blipFill>
        <p:spPr>
          <a:xfrm>
            <a:off x="6314912" y="3281083"/>
            <a:ext cx="5140208" cy="3426156"/>
          </a:xfrm>
          <a:prstGeom prst="rect">
            <a:avLst/>
          </a:prstGeom>
        </p:spPr>
      </p:pic>
      <p:pic>
        <p:nvPicPr>
          <p:cNvPr id="5" name="Content Placeholder 4">
            <a:extLst>
              <a:ext uri="{FF2B5EF4-FFF2-40B4-BE49-F238E27FC236}">
                <a16:creationId xmlns:a16="http://schemas.microsoft.com/office/drawing/2014/main" id="{D65228A0-690D-B22F-9DEC-ACCBC97820F3}"/>
              </a:ext>
            </a:extLst>
          </p:cNvPr>
          <p:cNvPicPr>
            <a:picLocks noChangeAspect="1"/>
          </p:cNvPicPr>
          <p:nvPr/>
        </p:nvPicPr>
        <p:blipFill>
          <a:blip r:embed="rId3"/>
          <a:stretch>
            <a:fillRect/>
          </a:stretch>
        </p:blipFill>
        <p:spPr>
          <a:xfrm>
            <a:off x="6314911" y="33347"/>
            <a:ext cx="5140209" cy="3096975"/>
          </a:xfrm>
          <a:prstGeom prst="rect">
            <a:avLst/>
          </a:prstGeom>
        </p:spPr>
      </p:pic>
    </p:spTree>
    <p:extLst>
      <p:ext uri="{BB962C8B-B14F-4D97-AF65-F5344CB8AC3E}">
        <p14:creationId xmlns:p14="http://schemas.microsoft.com/office/powerpoint/2010/main" val="599361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85C270-6EAC-5AA2-F443-781ED826E16B}"/>
              </a:ext>
            </a:extLst>
          </p:cNvPr>
          <p:cNvSpPr>
            <a:spLocks noGrp="1"/>
          </p:cNvSpPr>
          <p:nvPr>
            <p:ph type="title"/>
          </p:nvPr>
        </p:nvSpPr>
        <p:spPr>
          <a:xfrm>
            <a:off x="438913" y="859536"/>
            <a:ext cx="4832802" cy="1170432"/>
          </a:xfrm>
        </p:spPr>
        <p:txBody>
          <a:bodyPr anchor="b">
            <a:normAutofit/>
          </a:bodyPr>
          <a:lstStyle/>
          <a:p>
            <a:r>
              <a:rPr lang="en-US" sz="3400"/>
              <a:t>Xây dựng chương trình </a:t>
            </a:r>
          </a:p>
        </p:txBody>
      </p:sp>
      <p:sp>
        <p:nvSpPr>
          <p:cNvPr id="20" name="Rectangle 19">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10">
            <a:extLst>
              <a:ext uri="{FF2B5EF4-FFF2-40B4-BE49-F238E27FC236}">
                <a16:creationId xmlns:a16="http://schemas.microsoft.com/office/drawing/2014/main" id="{3A745B29-329C-21A6-BF7A-C7580F0FE8F6}"/>
              </a:ext>
            </a:extLst>
          </p:cNvPr>
          <p:cNvSpPr>
            <a:spLocks noGrp="1"/>
          </p:cNvSpPr>
          <p:nvPr>
            <p:ph idx="1"/>
          </p:nvPr>
        </p:nvSpPr>
        <p:spPr>
          <a:xfrm>
            <a:off x="438912" y="2512611"/>
            <a:ext cx="4832803" cy="4327101"/>
          </a:xfrm>
        </p:spPr>
        <p:txBody>
          <a:bodyPr>
            <a:normAutofit fontScale="85000" lnSpcReduction="10000"/>
          </a:bodyPr>
          <a:lstStyle/>
          <a:p>
            <a:pPr algn="just"/>
            <a:r>
              <a:rPr lang="en-US" sz="2000" dirty="0" err="1"/>
              <a:t>Khối</a:t>
            </a:r>
            <a:r>
              <a:rPr lang="en-US" sz="2000" dirty="0"/>
              <a:t> </a:t>
            </a:r>
            <a:r>
              <a:rPr lang="en-US" sz="2000" dirty="0" err="1"/>
              <a:t>dự</a:t>
            </a:r>
            <a:r>
              <a:rPr lang="en-US" sz="2000" dirty="0"/>
              <a:t> </a:t>
            </a:r>
            <a:r>
              <a:rPr lang="en-US" sz="2000" dirty="0" err="1"/>
              <a:t>đoán</a:t>
            </a:r>
            <a:r>
              <a:rPr lang="en-US" sz="2000" dirty="0"/>
              <a:t> </a:t>
            </a:r>
            <a:r>
              <a:rPr lang="en-US" sz="2000" dirty="0" err="1"/>
              <a:t>hoạt</a:t>
            </a:r>
            <a:r>
              <a:rPr lang="en-US" sz="2000" dirty="0"/>
              <a:t> </a:t>
            </a:r>
            <a:r>
              <a:rPr lang="en-US" sz="2000" dirty="0" err="1"/>
              <a:t>động</a:t>
            </a:r>
            <a:r>
              <a:rPr lang="en-US" sz="2000" dirty="0"/>
              <a:t> </a:t>
            </a:r>
            <a:r>
              <a:rPr lang="en-US" sz="2000" dirty="0" err="1"/>
              <a:t>bằng</a:t>
            </a:r>
            <a:r>
              <a:rPr lang="en-US" sz="2000" dirty="0"/>
              <a:t> </a:t>
            </a:r>
            <a:r>
              <a:rPr lang="en-US" sz="2000" dirty="0" err="1"/>
              <a:t>cách</a:t>
            </a:r>
            <a:r>
              <a:rPr lang="en-US" sz="2000" dirty="0"/>
              <a:t> </a:t>
            </a:r>
            <a:r>
              <a:rPr lang="en-US" sz="2000" dirty="0" err="1"/>
              <a:t>kết</a:t>
            </a:r>
            <a:r>
              <a:rPr lang="en-US" sz="2000" dirty="0"/>
              <a:t> </a:t>
            </a:r>
            <a:r>
              <a:rPr lang="en-US" sz="2000" dirty="0" err="1"/>
              <a:t>hợp</a:t>
            </a:r>
            <a:r>
              <a:rPr lang="en-US" sz="2000" dirty="0"/>
              <a:t> </a:t>
            </a:r>
            <a:r>
              <a:rPr lang="en-US" sz="2000" dirty="0" err="1"/>
              <a:t>ba</a:t>
            </a:r>
            <a:r>
              <a:rPr lang="en-US" sz="2000" dirty="0"/>
              <a:t> </a:t>
            </a:r>
            <a:r>
              <a:rPr lang="en-US" sz="2000" dirty="0" err="1"/>
              <a:t>yếu</a:t>
            </a:r>
            <a:r>
              <a:rPr lang="en-US" sz="2000" dirty="0"/>
              <a:t> </a:t>
            </a:r>
            <a:r>
              <a:rPr lang="en-US" sz="2000" dirty="0" err="1"/>
              <a:t>tố</a:t>
            </a:r>
            <a:r>
              <a:rPr lang="en-US" sz="2000" dirty="0"/>
              <a:t>: </a:t>
            </a:r>
            <a:r>
              <a:rPr lang="en-US" sz="2000" dirty="0" err="1"/>
              <a:t>dữ</a:t>
            </a:r>
            <a:r>
              <a:rPr lang="en-US" sz="2000" dirty="0"/>
              <a:t> </a:t>
            </a:r>
            <a:r>
              <a:rPr lang="en-US" sz="2000" dirty="0" err="1"/>
              <a:t>liệu</a:t>
            </a:r>
            <a:r>
              <a:rPr lang="en-US" sz="2000" dirty="0"/>
              <a:t> </a:t>
            </a:r>
            <a:r>
              <a:rPr lang="en-US" sz="2000" dirty="0" err="1"/>
              <a:t>lịch</a:t>
            </a:r>
            <a:r>
              <a:rPr lang="en-US" sz="2000" dirty="0"/>
              <a:t> </a:t>
            </a:r>
            <a:r>
              <a:rPr lang="en-US" sz="2000" dirty="0" err="1"/>
              <a:t>sử</a:t>
            </a:r>
            <a:r>
              <a:rPr lang="en-US" sz="2000" dirty="0"/>
              <a:t> </a:t>
            </a:r>
            <a:r>
              <a:rPr lang="en-US" sz="2000" dirty="0" err="1"/>
              <a:t>theo</a:t>
            </a:r>
            <a:r>
              <a:rPr lang="en-US" sz="2000" dirty="0"/>
              <a:t> </a:t>
            </a:r>
            <a:r>
              <a:rPr lang="en-US" sz="2000" dirty="0" err="1"/>
              <a:t>năm</a:t>
            </a:r>
            <a:r>
              <a:rPr lang="en-US" sz="2000" dirty="0"/>
              <a:t>, </a:t>
            </a:r>
            <a:r>
              <a:rPr lang="en-US" sz="2000" dirty="0" err="1"/>
              <a:t>biến</a:t>
            </a:r>
            <a:r>
              <a:rPr lang="en-US" sz="2000" dirty="0"/>
              <a:t> </a:t>
            </a:r>
            <a:r>
              <a:rPr lang="en-US" sz="2000" dirty="0" err="1"/>
              <a:t>thời</a:t>
            </a:r>
            <a:r>
              <a:rPr lang="en-US" sz="2000" dirty="0"/>
              <a:t> </a:t>
            </a:r>
            <a:r>
              <a:rPr lang="en-US" sz="2000" dirty="0" err="1"/>
              <a:t>gian</a:t>
            </a:r>
            <a:r>
              <a:rPr lang="en-US" sz="2000" dirty="0"/>
              <a:t> (`Year`) </a:t>
            </a:r>
            <a:r>
              <a:rPr lang="en-US" sz="2000" dirty="0" err="1"/>
              <a:t>và</a:t>
            </a:r>
            <a:r>
              <a:rPr lang="en-US" sz="2000" dirty="0"/>
              <a:t> </a:t>
            </a:r>
            <a:r>
              <a:rPr lang="en-US" sz="2000" dirty="0" err="1"/>
              <a:t>các</a:t>
            </a:r>
            <a:r>
              <a:rPr lang="en-US" sz="2000" dirty="0"/>
              <a:t> </a:t>
            </a:r>
            <a:r>
              <a:rPr lang="en-US" sz="2000" dirty="0" err="1"/>
              <a:t>chỉ</a:t>
            </a:r>
            <a:r>
              <a:rPr lang="en-US" sz="2000" dirty="0"/>
              <a:t> </a:t>
            </a:r>
            <a:r>
              <a:rPr lang="en-US" sz="2000" dirty="0" err="1"/>
              <a:t>số</a:t>
            </a:r>
            <a:r>
              <a:rPr lang="en-US" sz="2000" dirty="0"/>
              <a:t> </a:t>
            </a:r>
            <a:r>
              <a:rPr lang="en-US" sz="2000" dirty="0" err="1"/>
              <a:t>thống</a:t>
            </a:r>
            <a:r>
              <a:rPr lang="en-US" sz="2000" dirty="0"/>
              <a:t> </a:t>
            </a:r>
            <a:r>
              <a:rPr lang="en-US" sz="2000" dirty="0" err="1"/>
              <a:t>kê</a:t>
            </a:r>
            <a:r>
              <a:rPr lang="en-US" sz="2000" dirty="0"/>
              <a:t> </a:t>
            </a:r>
            <a:r>
              <a:rPr lang="en-US" sz="2000" dirty="0" err="1"/>
              <a:t>đã</a:t>
            </a:r>
            <a:r>
              <a:rPr lang="en-US" sz="2000" dirty="0"/>
              <a:t> </a:t>
            </a:r>
            <a:r>
              <a:rPr lang="en-US" sz="2000" dirty="0" err="1"/>
              <a:t>được</a:t>
            </a:r>
            <a:r>
              <a:rPr lang="en-US" sz="2000" dirty="0"/>
              <a:t> </a:t>
            </a:r>
            <a:r>
              <a:rPr lang="en-US" sz="2000" dirty="0" err="1"/>
              <a:t>chuẩn</a:t>
            </a:r>
            <a:r>
              <a:rPr lang="en-US" sz="2000" dirty="0"/>
              <a:t> </a:t>
            </a:r>
            <a:r>
              <a:rPr lang="en-US" sz="2000" dirty="0" err="1"/>
              <a:t>hóa</a:t>
            </a:r>
            <a:r>
              <a:rPr lang="en-US" sz="2000" dirty="0"/>
              <a:t>. </a:t>
            </a:r>
            <a:r>
              <a:rPr lang="en-US" sz="2000" dirty="0" err="1"/>
              <a:t>Hồi</a:t>
            </a:r>
            <a:r>
              <a:rPr lang="en-US" sz="2000" dirty="0"/>
              <a:t> </a:t>
            </a:r>
            <a:r>
              <a:rPr lang="en-US" sz="2000" dirty="0" err="1"/>
              <a:t>quy</a:t>
            </a:r>
            <a:r>
              <a:rPr lang="en-US" sz="2000" dirty="0"/>
              <a:t> </a:t>
            </a:r>
            <a:r>
              <a:rPr lang="en-US" sz="2000" dirty="0" err="1"/>
              <a:t>tuyến</a:t>
            </a:r>
            <a:r>
              <a:rPr lang="en-US" sz="2000" dirty="0"/>
              <a:t> </a:t>
            </a:r>
            <a:r>
              <a:rPr lang="en-US" sz="2000" dirty="0" err="1"/>
              <a:t>tính</a:t>
            </a:r>
            <a:r>
              <a:rPr lang="en-US" sz="2000" dirty="0"/>
              <a:t> </a:t>
            </a:r>
            <a:r>
              <a:rPr lang="en-US" sz="2000" dirty="0" err="1"/>
              <a:t>cung</a:t>
            </a:r>
            <a:r>
              <a:rPr lang="en-US" sz="2000" dirty="0"/>
              <a:t> </a:t>
            </a:r>
            <a:r>
              <a:rPr lang="en-US" sz="2000" dirty="0" err="1"/>
              <a:t>cấp</a:t>
            </a:r>
            <a:r>
              <a:rPr lang="en-US" sz="2000" dirty="0"/>
              <a:t> </a:t>
            </a:r>
            <a:r>
              <a:rPr lang="en-US" sz="2000" dirty="0" err="1"/>
              <a:t>dự</a:t>
            </a:r>
            <a:r>
              <a:rPr lang="en-US" sz="2000" dirty="0"/>
              <a:t> </a:t>
            </a:r>
            <a:r>
              <a:rPr lang="en-US" sz="2000" dirty="0" err="1"/>
              <a:t>đoán</a:t>
            </a:r>
            <a:r>
              <a:rPr lang="en-US" sz="2000" dirty="0"/>
              <a:t> </a:t>
            </a:r>
            <a:r>
              <a:rPr lang="en-US" sz="2000" dirty="0" err="1"/>
              <a:t>số</a:t>
            </a:r>
            <a:r>
              <a:rPr lang="en-US" sz="2000" dirty="0"/>
              <a:t> học </a:t>
            </a:r>
            <a:r>
              <a:rPr lang="en-US" sz="2000" dirty="0" err="1"/>
              <a:t>cho</a:t>
            </a:r>
            <a:r>
              <a:rPr lang="en-US" sz="2000" dirty="0"/>
              <a:t> </a:t>
            </a:r>
            <a:r>
              <a:rPr lang="en-US" sz="2000" dirty="0" err="1"/>
              <a:t>năm</a:t>
            </a:r>
            <a:r>
              <a:rPr lang="en-US" sz="2000" dirty="0"/>
              <a:t> 2030, </a:t>
            </a:r>
            <a:r>
              <a:rPr lang="en-US" sz="2000" dirty="0" err="1"/>
              <a:t>còn</a:t>
            </a:r>
            <a:r>
              <a:rPr lang="en-US" sz="2000" dirty="0"/>
              <a:t> </a:t>
            </a:r>
            <a:r>
              <a:rPr lang="en-US" sz="2000" dirty="0" err="1"/>
              <a:t>KMeans</a:t>
            </a:r>
            <a:r>
              <a:rPr lang="en-US" sz="2000" dirty="0"/>
              <a:t> </a:t>
            </a:r>
            <a:r>
              <a:rPr lang="en-US" sz="2000" dirty="0" err="1"/>
              <a:t>và</a:t>
            </a:r>
            <a:r>
              <a:rPr lang="en-US" sz="2000" dirty="0"/>
              <a:t> </a:t>
            </a:r>
            <a:r>
              <a:rPr lang="en-US" sz="2000" dirty="0" err="1"/>
              <a:t>phân</a:t>
            </a:r>
            <a:r>
              <a:rPr lang="en-US" sz="2000" dirty="0"/>
              <a:t> </a:t>
            </a:r>
            <a:r>
              <a:rPr lang="en-US" sz="2000" dirty="0" err="1"/>
              <a:t>lớp</a:t>
            </a:r>
            <a:r>
              <a:rPr lang="en-US" sz="2000" dirty="0"/>
              <a:t> </a:t>
            </a:r>
            <a:r>
              <a:rPr lang="en-US" sz="2000" dirty="0" err="1"/>
              <a:t>theo</a:t>
            </a:r>
            <a:r>
              <a:rPr lang="en-US" sz="2000" dirty="0"/>
              <a:t> </a:t>
            </a:r>
            <a:r>
              <a:rPr lang="en-US" sz="2000" dirty="0" err="1"/>
              <a:t>ngưỡng</a:t>
            </a:r>
            <a:r>
              <a:rPr lang="en-US" sz="2000" dirty="0"/>
              <a:t> </a:t>
            </a:r>
            <a:r>
              <a:rPr lang="en-US" sz="2000" dirty="0" err="1"/>
              <a:t>giúp</a:t>
            </a:r>
            <a:r>
              <a:rPr lang="en-US" sz="2000" dirty="0"/>
              <a:t> </a:t>
            </a:r>
            <a:r>
              <a:rPr lang="en-US" sz="2000" dirty="0" err="1"/>
              <a:t>giải</a:t>
            </a:r>
            <a:r>
              <a:rPr lang="en-US" sz="2000" dirty="0"/>
              <a:t> </a:t>
            </a:r>
            <a:r>
              <a:rPr lang="en-US" sz="2000" dirty="0" err="1"/>
              <a:t>thích</a:t>
            </a:r>
            <a:r>
              <a:rPr lang="en-US" sz="2000" dirty="0"/>
              <a:t> </a:t>
            </a:r>
            <a:r>
              <a:rPr lang="en-US" sz="2000" dirty="0" err="1"/>
              <a:t>tại</a:t>
            </a:r>
            <a:r>
              <a:rPr lang="en-US" sz="2000" dirty="0"/>
              <a:t> </a:t>
            </a:r>
            <a:r>
              <a:rPr lang="en-US" sz="2000" dirty="0" err="1"/>
              <a:t>sao</a:t>
            </a:r>
            <a:r>
              <a:rPr lang="en-US" sz="2000" dirty="0"/>
              <a:t> xu </a:t>
            </a:r>
            <a:r>
              <a:rPr lang="en-US" sz="2000" dirty="0" err="1"/>
              <a:t>hướng</a:t>
            </a:r>
            <a:r>
              <a:rPr lang="en-US" sz="2000" dirty="0"/>
              <a:t> </a:t>
            </a:r>
            <a:r>
              <a:rPr lang="en-US" sz="2000" dirty="0" err="1"/>
              <a:t>này</a:t>
            </a:r>
            <a:r>
              <a:rPr lang="en-US" sz="2000" dirty="0"/>
              <a:t> </a:t>
            </a:r>
            <a:r>
              <a:rPr lang="en-US" sz="2000" dirty="0" err="1"/>
              <a:t>có</a:t>
            </a:r>
            <a:r>
              <a:rPr lang="en-US" sz="2000" dirty="0"/>
              <a:t> </a:t>
            </a:r>
            <a:r>
              <a:rPr lang="en-US" sz="2000" dirty="0" err="1"/>
              <a:t>thể</a:t>
            </a:r>
            <a:r>
              <a:rPr lang="en-US" sz="2000" dirty="0"/>
              <a:t> </a:t>
            </a:r>
            <a:r>
              <a:rPr lang="en-US" sz="2000" dirty="0" err="1"/>
              <a:t>tiếp</a:t>
            </a:r>
            <a:r>
              <a:rPr lang="en-US" sz="2000" dirty="0"/>
              <a:t> </a:t>
            </a:r>
            <a:r>
              <a:rPr lang="en-US" sz="2000" dirty="0" err="1"/>
              <a:t>tục</a:t>
            </a:r>
            <a:r>
              <a:rPr lang="en-US" sz="2000" dirty="0"/>
              <a:t>. Nói </a:t>
            </a:r>
            <a:r>
              <a:rPr lang="en-US" sz="2000" dirty="0" err="1"/>
              <a:t>cách</a:t>
            </a:r>
            <a:r>
              <a:rPr lang="en-US" sz="2000" dirty="0"/>
              <a:t> </a:t>
            </a:r>
            <a:r>
              <a:rPr lang="en-US" sz="2000" dirty="0" err="1"/>
              <a:t>khác</a:t>
            </a:r>
            <a:r>
              <a:rPr lang="en-US" sz="2000" dirty="0"/>
              <a:t>, </a:t>
            </a:r>
            <a:r>
              <a:rPr lang="en-US" sz="2000" dirty="0" err="1"/>
              <a:t>khối</a:t>
            </a:r>
            <a:r>
              <a:rPr lang="en-US" sz="2000" dirty="0"/>
              <a:t> </a:t>
            </a:r>
            <a:r>
              <a:rPr lang="en-US" sz="2000" dirty="0" err="1"/>
              <a:t>dự</a:t>
            </a:r>
            <a:r>
              <a:rPr lang="en-US" sz="2000" dirty="0"/>
              <a:t> </a:t>
            </a:r>
            <a:r>
              <a:rPr lang="en-US" sz="2000" dirty="0" err="1"/>
              <a:t>đoán</a:t>
            </a:r>
            <a:r>
              <a:rPr lang="en-US" sz="2000" dirty="0"/>
              <a:t> </a:t>
            </a:r>
            <a:r>
              <a:rPr lang="en-US" sz="2000" dirty="0" err="1"/>
              <a:t>không</a:t>
            </a:r>
            <a:r>
              <a:rPr lang="en-US" sz="2000" dirty="0"/>
              <a:t> </a:t>
            </a:r>
            <a:r>
              <a:rPr lang="en-US" sz="2000" dirty="0" err="1"/>
              <a:t>chỉ</a:t>
            </a:r>
            <a:r>
              <a:rPr lang="en-US" sz="2000" dirty="0"/>
              <a:t> “</a:t>
            </a:r>
            <a:r>
              <a:rPr lang="en-US" sz="2000" dirty="0" err="1"/>
              <a:t>đoán</a:t>
            </a:r>
            <a:r>
              <a:rPr lang="en-US" sz="2000" dirty="0"/>
              <a:t> </a:t>
            </a:r>
            <a:r>
              <a:rPr lang="en-US" sz="2000" dirty="0" err="1"/>
              <a:t>số</a:t>
            </a:r>
            <a:r>
              <a:rPr lang="en-US" sz="2000" dirty="0"/>
              <a:t>” </a:t>
            </a:r>
            <a:r>
              <a:rPr lang="en-US" sz="2000" dirty="0" err="1"/>
              <a:t>mà</a:t>
            </a:r>
            <a:r>
              <a:rPr lang="en-US" sz="2000" dirty="0"/>
              <a:t> </a:t>
            </a:r>
            <a:r>
              <a:rPr lang="en-US" sz="2000" dirty="0" err="1"/>
              <a:t>còn</a:t>
            </a:r>
            <a:r>
              <a:rPr lang="en-US" sz="2000" dirty="0"/>
              <a:t> </a:t>
            </a:r>
            <a:r>
              <a:rPr lang="en-US" sz="2000" dirty="0" err="1"/>
              <a:t>cung</a:t>
            </a:r>
            <a:r>
              <a:rPr lang="en-US" sz="2000" dirty="0"/>
              <a:t> </a:t>
            </a:r>
            <a:r>
              <a:rPr lang="en-US" sz="2000" dirty="0" err="1"/>
              <a:t>cấp</a:t>
            </a:r>
            <a:r>
              <a:rPr lang="en-US" sz="2000" dirty="0"/>
              <a:t> </a:t>
            </a:r>
            <a:r>
              <a:rPr lang="en-US" sz="2000" dirty="0" err="1"/>
              <a:t>bối</a:t>
            </a:r>
            <a:r>
              <a:rPr lang="en-US" sz="2000" dirty="0"/>
              <a:t> </a:t>
            </a:r>
            <a:r>
              <a:rPr lang="en-US" sz="2000" dirty="0" err="1"/>
              <a:t>cảnh</a:t>
            </a:r>
            <a:r>
              <a:rPr lang="en-US" sz="2000" dirty="0"/>
              <a:t> </a:t>
            </a:r>
            <a:r>
              <a:rPr lang="en-US" sz="2000" dirty="0" err="1"/>
              <a:t>phân</a:t>
            </a:r>
            <a:r>
              <a:rPr lang="en-US" sz="2000" dirty="0"/>
              <a:t> </a:t>
            </a:r>
            <a:r>
              <a:rPr lang="en-US" sz="2000" dirty="0" err="1"/>
              <a:t>nhóm</a:t>
            </a:r>
            <a:r>
              <a:rPr lang="en-US" sz="2000" dirty="0"/>
              <a:t> </a:t>
            </a:r>
            <a:r>
              <a:rPr lang="en-US" sz="2000" dirty="0" err="1"/>
              <a:t>và</a:t>
            </a:r>
            <a:r>
              <a:rPr lang="en-US" sz="2000" dirty="0"/>
              <a:t> </a:t>
            </a:r>
            <a:r>
              <a:rPr lang="en-US" sz="2000" dirty="0" err="1"/>
              <a:t>phân</a:t>
            </a:r>
            <a:r>
              <a:rPr lang="en-US" sz="2000" dirty="0"/>
              <a:t> </a:t>
            </a:r>
            <a:r>
              <a:rPr lang="en-US" sz="2000" dirty="0" err="1"/>
              <a:t>loại</a:t>
            </a:r>
            <a:r>
              <a:rPr lang="en-US" sz="2000" dirty="0"/>
              <a:t> </a:t>
            </a:r>
            <a:r>
              <a:rPr lang="en-US" sz="2000" dirty="0" err="1"/>
              <a:t>để</a:t>
            </a:r>
            <a:r>
              <a:rPr lang="en-US" sz="2000" dirty="0"/>
              <a:t> </a:t>
            </a:r>
            <a:r>
              <a:rPr lang="en-US" sz="2000" dirty="0" err="1"/>
              <a:t>hỗ</a:t>
            </a:r>
            <a:r>
              <a:rPr lang="en-US" sz="2000" dirty="0"/>
              <a:t> </a:t>
            </a:r>
            <a:r>
              <a:rPr lang="en-US" sz="2000" dirty="0" err="1"/>
              <a:t>trợ</a:t>
            </a:r>
            <a:r>
              <a:rPr lang="en-US" sz="2000" dirty="0"/>
              <a:t> </a:t>
            </a:r>
            <a:r>
              <a:rPr lang="en-US" sz="2000" dirty="0" err="1"/>
              <a:t>kết</a:t>
            </a:r>
            <a:r>
              <a:rPr lang="en-US" sz="2000" dirty="0"/>
              <a:t> </a:t>
            </a:r>
            <a:r>
              <a:rPr lang="en-US" sz="2000" dirty="0" err="1"/>
              <a:t>luận</a:t>
            </a:r>
            <a:r>
              <a:rPr lang="en-US" sz="2000" dirty="0"/>
              <a:t> </a:t>
            </a:r>
            <a:r>
              <a:rPr lang="en-US" sz="2000" dirty="0" err="1"/>
              <a:t>về</a:t>
            </a:r>
            <a:r>
              <a:rPr lang="en-US" sz="2000" dirty="0"/>
              <a:t> xu </a:t>
            </a:r>
            <a:r>
              <a:rPr lang="en-US" sz="2000" dirty="0" err="1"/>
              <a:t>hướng</a:t>
            </a:r>
            <a:r>
              <a:rPr lang="en-US" sz="2000" dirty="0"/>
              <a:t> </a:t>
            </a:r>
            <a:r>
              <a:rPr lang="en-US" sz="2000" dirty="0" err="1"/>
              <a:t>nóng</a:t>
            </a:r>
            <a:r>
              <a:rPr lang="en-US" sz="2000" dirty="0"/>
              <a:t> lên.</a:t>
            </a:r>
          </a:p>
          <a:p>
            <a:pPr algn="just"/>
            <a:r>
              <a:rPr lang="en-US" sz="2000" dirty="0" err="1"/>
              <a:t>Chương</a:t>
            </a:r>
            <a:r>
              <a:rPr lang="en-US" sz="2000" dirty="0"/>
              <a:t> </a:t>
            </a:r>
            <a:r>
              <a:rPr lang="en-US" sz="2000" dirty="0" err="1"/>
              <a:t>trình</a:t>
            </a:r>
            <a:r>
              <a:rPr lang="en-US" sz="2000" dirty="0"/>
              <a:t> </a:t>
            </a:r>
            <a:r>
              <a:rPr lang="en-US" sz="2000" dirty="0" err="1"/>
              <a:t>được</a:t>
            </a:r>
            <a:r>
              <a:rPr lang="en-US" sz="2000" dirty="0"/>
              <a:t> </a:t>
            </a:r>
            <a:r>
              <a:rPr lang="en-US" sz="2000" dirty="0" err="1"/>
              <a:t>xây</a:t>
            </a:r>
            <a:r>
              <a:rPr lang="en-US" sz="2000" dirty="0"/>
              <a:t> </a:t>
            </a:r>
            <a:r>
              <a:rPr lang="en-US" sz="2000" dirty="0" err="1"/>
              <a:t>dựng</a:t>
            </a:r>
            <a:r>
              <a:rPr lang="en-US" sz="2000" dirty="0"/>
              <a:t> </a:t>
            </a:r>
            <a:r>
              <a:rPr lang="en-US" sz="2000" dirty="0" err="1"/>
              <a:t>bằng</a:t>
            </a:r>
            <a:r>
              <a:rPr lang="en-US" sz="2000" dirty="0"/>
              <a:t> Python </a:t>
            </a:r>
            <a:r>
              <a:rPr lang="en-US" sz="2000" dirty="0" err="1"/>
              <a:t>trên</a:t>
            </a:r>
            <a:r>
              <a:rPr lang="en-US" sz="2000" dirty="0"/>
              <a:t> </a:t>
            </a:r>
            <a:r>
              <a:rPr lang="en-US" sz="2000" dirty="0" err="1"/>
              <a:t>môi</a:t>
            </a:r>
            <a:r>
              <a:rPr lang="en-US" sz="2000" dirty="0"/>
              <a:t> </a:t>
            </a:r>
            <a:r>
              <a:rPr lang="en-US" sz="2000" dirty="0" err="1"/>
              <a:t>trường</a:t>
            </a:r>
            <a:r>
              <a:rPr lang="en-US" sz="2000" dirty="0"/>
              <a:t> </a:t>
            </a:r>
            <a:r>
              <a:rPr lang="en-US" sz="2000" dirty="0" err="1"/>
              <a:t>Jupyter</a:t>
            </a:r>
            <a:r>
              <a:rPr lang="en-US" sz="2000" dirty="0"/>
              <a:t> Notebook, </a:t>
            </a:r>
            <a:r>
              <a:rPr lang="en-US" sz="2000" dirty="0" err="1"/>
              <a:t>với</a:t>
            </a:r>
            <a:r>
              <a:rPr lang="en-US" sz="2000" dirty="0"/>
              <a:t> </a:t>
            </a:r>
            <a:r>
              <a:rPr lang="en-US" sz="2000" dirty="0" err="1"/>
              <a:t>các</a:t>
            </a:r>
            <a:r>
              <a:rPr lang="en-US" sz="2000" dirty="0"/>
              <a:t> </a:t>
            </a:r>
            <a:r>
              <a:rPr lang="en-US" sz="2000" dirty="0" err="1"/>
              <a:t>thư</a:t>
            </a:r>
            <a:r>
              <a:rPr lang="en-US" sz="2000" dirty="0"/>
              <a:t> </a:t>
            </a:r>
            <a:r>
              <a:rPr lang="en-US" sz="2000" dirty="0" err="1"/>
              <a:t>viện</a:t>
            </a:r>
            <a:r>
              <a:rPr lang="en-US" sz="2000" dirty="0"/>
              <a:t> </a:t>
            </a:r>
            <a:r>
              <a:rPr lang="en-US" sz="2000" dirty="0" err="1"/>
              <a:t>hỗ</a:t>
            </a:r>
            <a:r>
              <a:rPr lang="en-US" sz="2000" dirty="0"/>
              <a:t> </a:t>
            </a:r>
            <a:r>
              <a:rPr lang="en-US" sz="2000" dirty="0" err="1"/>
              <a:t>trợ</a:t>
            </a:r>
            <a:r>
              <a:rPr lang="en-US" sz="2000" dirty="0"/>
              <a:t> </a:t>
            </a:r>
            <a:r>
              <a:rPr lang="en-US" sz="2000" dirty="0" err="1"/>
              <a:t>trực</a:t>
            </a:r>
            <a:r>
              <a:rPr lang="en-US" sz="2000" dirty="0"/>
              <a:t> </a:t>
            </a:r>
            <a:r>
              <a:rPr lang="en-US" sz="2000" dirty="0" err="1"/>
              <a:t>quan</a:t>
            </a:r>
            <a:r>
              <a:rPr lang="en-US" sz="2000" dirty="0"/>
              <a:t> </a:t>
            </a:r>
            <a:r>
              <a:rPr lang="en-US" sz="2000" dirty="0" err="1"/>
              <a:t>hóa</a:t>
            </a:r>
            <a:r>
              <a:rPr lang="en-US" sz="2000" dirty="0"/>
              <a:t> </a:t>
            </a:r>
            <a:r>
              <a:rPr lang="en-US" sz="2000" dirty="0" err="1"/>
              <a:t>và</a:t>
            </a:r>
            <a:r>
              <a:rPr lang="en-US" sz="2000" dirty="0"/>
              <a:t> </a:t>
            </a:r>
            <a:r>
              <a:rPr lang="en-US" sz="2000" dirty="0" err="1"/>
              <a:t>phân</a:t>
            </a:r>
            <a:r>
              <a:rPr lang="en-US" sz="2000" dirty="0"/>
              <a:t> </a:t>
            </a:r>
            <a:r>
              <a:rPr lang="en-US" sz="2000" dirty="0" err="1"/>
              <a:t>tích</a:t>
            </a:r>
            <a:r>
              <a:rPr lang="en-US" sz="2000" dirty="0"/>
              <a:t> </a:t>
            </a:r>
            <a:r>
              <a:rPr lang="en-US" sz="2000" dirty="0" err="1"/>
              <a:t>dữ</a:t>
            </a:r>
            <a:r>
              <a:rPr lang="en-US" sz="2000" dirty="0"/>
              <a:t> </a:t>
            </a:r>
            <a:r>
              <a:rPr lang="en-US" sz="2000" dirty="0" err="1"/>
              <a:t>liệu</a:t>
            </a:r>
            <a:r>
              <a:rPr lang="en-US" sz="2000" dirty="0"/>
              <a:t> </a:t>
            </a:r>
            <a:r>
              <a:rPr lang="en-US" sz="2000" dirty="0" err="1"/>
              <a:t>như</a:t>
            </a:r>
            <a:r>
              <a:rPr lang="en-US" sz="2000" dirty="0"/>
              <a:t> Pandas, Matplotlib, Seaborn </a:t>
            </a:r>
            <a:r>
              <a:rPr lang="en-US" sz="2000" dirty="0" err="1"/>
              <a:t>và</a:t>
            </a:r>
            <a:r>
              <a:rPr lang="en-US" sz="2000" dirty="0"/>
              <a:t> scikit-learn.</a:t>
            </a:r>
          </a:p>
          <a:p>
            <a:endParaRPr lang="en-US" sz="1100" dirty="0"/>
          </a:p>
        </p:txBody>
      </p:sp>
      <p:pic>
        <p:nvPicPr>
          <p:cNvPr id="5" name="Content Placeholder 4">
            <a:extLst>
              <a:ext uri="{FF2B5EF4-FFF2-40B4-BE49-F238E27FC236}">
                <a16:creationId xmlns:a16="http://schemas.microsoft.com/office/drawing/2014/main" id="{DB4E2ED8-A52D-C49E-D3C5-7F7DC85F0DAF}"/>
              </a:ext>
            </a:extLst>
          </p:cNvPr>
          <p:cNvPicPr>
            <a:picLocks noChangeAspect="1"/>
          </p:cNvPicPr>
          <p:nvPr/>
        </p:nvPicPr>
        <p:blipFill>
          <a:blip r:embed="rId2"/>
          <a:stretch>
            <a:fillRect/>
          </a:stretch>
        </p:blipFill>
        <p:spPr>
          <a:xfrm>
            <a:off x="6364617" y="241382"/>
            <a:ext cx="5530618" cy="2875922"/>
          </a:xfrm>
          <a:prstGeom prst="rect">
            <a:avLst/>
          </a:prstGeom>
        </p:spPr>
      </p:pic>
      <p:pic>
        <p:nvPicPr>
          <p:cNvPr id="7" name="Picture 6">
            <a:extLst>
              <a:ext uri="{FF2B5EF4-FFF2-40B4-BE49-F238E27FC236}">
                <a16:creationId xmlns:a16="http://schemas.microsoft.com/office/drawing/2014/main" id="{0ABB7684-348C-C094-F60D-2A4F91E27084}"/>
              </a:ext>
            </a:extLst>
          </p:cNvPr>
          <p:cNvPicPr>
            <a:picLocks noChangeAspect="1"/>
          </p:cNvPicPr>
          <p:nvPr/>
        </p:nvPicPr>
        <p:blipFill>
          <a:blip r:embed="rId3"/>
          <a:stretch>
            <a:fillRect/>
          </a:stretch>
        </p:blipFill>
        <p:spPr>
          <a:xfrm>
            <a:off x="6364616" y="3616257"/>
            <a:ext cx="5534786" cy="2283098"/>
          </a:xfrm>
          <a:prstGeom prst="rect">
            <a:avLst/>
          </a:prstGeom>
        </p:spPr>
      </p:pic>
    </p:spTree>
    <p:extLst>
      <p:ext uri="{BB962C8B-B14F-4D97-AF65-F5344CB8AC3E}">
        <p14:creationId xmlns:p14="http://schemas.microsoft.com/office/powerpoint/2010/main" val="3472987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C4892-3B2B-8BEB-8E06-EDB87885A2E2}"/>
              </a:ext>
            </a:extLst>
          </p:cNvPr>
          <p:cNvSpPr>
            <a:spLocks noGrp="1"/>
          </p:cNvSpPr>
          <p:nvPr>
            <p:ph type="title"/>
          </p:nvPr>
        </p:nvSpPr>
        <p:spPr>
          <a:xfrm>
            <a:off x="841248" y="426720"/>
            <a:ext cx="10506456" cy="1919141"/>
          </a:xfrm>
        </p:spPr>
        <p:txBody>
          <a:bodyPr anchor="b">
            <a:normAutofit/>
          </a:bodyPr>
          <a:lstStyle/>
          <a:p>
            <a:r>
              <a:rPr lang="en-US" sz="6000"/>
              <a:t>THỰC NGHIỆM VÀ ĐÁNH GIÁ KẾT QUẢ</a:t>
            </a:r>
          </a:p>
        </p:txBody>
      </p:sp>
      <p:sp>
        <p:nvSpPr>
          <p:cNvPr id="18" name="Rectangle 17">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01CA775-47FF-248B-40EF-6EB6752D93EB}"/>
              </a:ext>
            </a:extLst>
          </p:cNvPr>
          <p:cNvSpPr>
            <a:spLocks noGrp="1"/>
          </p:cNvSpPr>
          <p:nvPr>
            <p:ph idx="1"/>
          </p:nvPr>
        </p:nvSpPr>
        <p:spPr>
          <a:xfrm>
            <a:off x="841248" y="3337269"/>
            <a:ext cx="10509504" cy="2905686"/>
          </a:xfrm>
        </p:spPr>
        <p:txBody>
          <a:bodyPr>
            <a:normAutofit/>
          </a:bodyPr>
          <a:lstStyle/>
          <a:p>
            <a:r>
              <a:rPr lang="en-US" sz="2000" b="1" dirty="0" err="1"/>
              <a:t>Môi</a:t>
            </a:r>
            <a:r>
              <a:rPr lang="en-US" sz="2000" b="1" dirty="0"/>
              <a:t> </a:t>
            </a:r>
            <a:r>
              <a:rPr lang="en-US" sz="2000" b="1" dirty="0" err="1"/>
              <a:t>trường</a:t>
            </a:r>
            <a:r>
              <a:rPr lang="en-US" sz="2000" b="1" dirty="0"/>
              <a:t> </a:t>
            </a:r>
            <a:r>
              <a:rPr lang="en-US" sz="2000" b="1" dirty="0" err="1"/>
              <a:t>thực</a:t>
            </a:r>
            <a:r>
              <a:rPr lang="en-US" sz="2000" b="1" dirty="0"/>
              <a:t> </a:t>
            </a:r>
            <a:r>
              <a:rPr lang="en-US" sz="2000" b="1" dirty="0" err="1"/>
              <a:t>nghiệm</a:t>
            </a:r>
            <a:endParaRPr lang="en-US" sz="2000" dirty="0"/>
          </a:p>
          <a:p>
            <a:pPr lvl="1"/>
            <a:r>
              <a:rPr lang="en-US" sz="2000" dirty="0"/>
              <a:t>- </a:t>
            </a:r>
            <a:r>
              <a:rPr lang="en-US" sz="2000" dirty="0" err="1"/>
              <a:t>Hệ</a:t>
            </a:r>
            <a:r>
              <a:rPr lang="en-US" sz="2000" dirty="0"/>
              <a:t> </a:t>
            </a:r>
            <a:r>
              <a:rPr lang="en-US" sz="2000" dirty="0" err="1"/>
              <a:t>điều</a:t>
            </a:r>
            <a:r>
              <a:rPr lang="en-US" sz="2000" dirty="0"/>
              <a:t> </a:t>
            </a:r>
            <a:r>
              <a:rPr lang="en-US" sz="2000" dirty="0" err="1"/>
              <a:t>hành</a:t>
            </a:r>
            <a:r>
              <a:rPr lang="en-US" sz="2000" dirty="0"/>
              <a:t>: Windows</a:t>
            </a:r>
          </a:p>
          <a:p>
            <a:pPr lvl="1"/>
            <a:r>
              <a:rPr lang="en-US" sz="2000" dirty="0"/>
              <a:t>- Công </a:t>
            </a:r>
            <a:r>
              <a:rPr lang="en-US" sz="2000" dirty="0" err="1"/>
              <a:t>cụ</a:t>
            </a:r>
            <a:r>
              <a:rPr lang="en-US" sz="2000" dirty="0"/>
              <a:t> </a:t>
            </a:r>
            <a:r>
              <a:rPr lang="en-US" sz="2000" dirty="0" err="1"/>
              <a:t>lập</a:t>
            </a:r>
            <a:r>
              <a:rPr lang="en-US" sz="2000" dirty="0"/>
              <a:t> </a:t>
            </a:r>
            <a:r>
              <a:rPr lang="en-US" sz="2000" dirty="0" err="1"/>
              <a:t>trình</a:t>
            </a:r>
            <a:r>
              <a:rPr lang="en-US" sz="2000" dirty="0"/>
              <a:t>: VS Code</a:t>
            </a:r>
          </a:p>
          <a:p>
            <a:pPr lvl="1"/>
            <a:r>
              <a:rPr lang="en-US" sz="2000" dirty="0"/>
              <a:t>- </a:t>
            </a:r>
            <a:r>
              <a:rPr lang="en-US" sz="2000" dirty="0" err="1"/>
              <a:t>Môi</a:t>
            </a:r>
            <a:r>
              <a:rPr lang="en-US" sz="2000" dirty="0"/>
              <a:t> </a:t>
            </a:r>
            <a:r>
              <a:rPr lang="en-US" sz="2000" dirty="0" err="1"/>
              <a:t>trường</a:t>
            </a:r>
            <a:r>
              <a:rPr lang="en-US" sz="2000" dirty="0"/>
              <a:t> </a:t>
            </a:r>
            <a:r>
              <a:rPr lang="en-US" sz="2000" dirty="0" err="1"/>
              <a:t>chạy</a:t>
            </a:r>
            <a:r>
              <a:rPr lang="en-US" sz="2000" dirty="0"/>
              <a:t>: </a:t>
            </a:r>
            <a:r>
              <a:rPr lang="en-US" sz="2000" dirty="0" err="1"/>
              <a:t>Jupyter</a:t>
            </a:r>
            <a:r>
              <a:rPr lang="en-US" sz="2000" dirty="0"/>
              <a:t> Notebook / Python kernel</a:t>
            </a:r>
          </a:p>
          <a:p>
            <a:pPr lvl="1"/>
            <a:r>
              <a:rPr lang="en-US" sz="2000" dirty="0"/>
              <a:t>- </a:t>
            </a:r>
            <a:r>
              <a:rPr lang="en-US" sz="2000" dirty="0" err="1"/>
              <a:t>Ngôn</a:t>
            </a:r>
            <a:r>
              <a:rPr lang="en-US" sz="2000" dirty="0"/>
              <a:t> </a:t>
            </a:r>
            <a:r>
              <a:rPr lang="en-US" sz="2000" dirty="0" err="1"/>
              <a:t>ngữ</a:t>
            </a:r>
            <a:r>
              <a:rPr lang="en-US" sz="2000" dirty="0"/>
              <a:t> </a:t>
            </a:r>
            <a:r>
              <a:rPr lang="en-US" sz="2000" dirty="0" err="1"/>
              <a:t>lập</a:t>
            </a:r>
            <a:r>
              <a:rPr lang="en-US" sz="2000" dirty="0"/>
              <a:t> </a:t>
            </a:r>
            <a:r>
              <a:rPr lang="en-US" sz="2000" dirty="0" err="1"/>
              <a:t>trình</a:t>
            </a:r>
            <a:r>
              <a:rPr lang="en-US" sz="2000" dirty="0"/>
              <a:t>: Python</a:t>
            </a:r>
          </a:p>
          <a:p>
            <a:pPr lvl="1"/>
            <a:r>
              <a:rPr lang="en-US" sz="2000" dirty="0"/>
              <a:t>- Công </a:t>
            </a:r>
            <a:r>
              <a:rPr lang="en-US" sz="2000" dirty="0" err="1"/>
              <a:t>cụ</a:t>
            </a:r>
            <a:r>
              <a:rPr lang="en-US" sz="2000" dirty="0"/>
              <a:t> </a:t>
            </a:r>
            <a:r>
              <a:rPr lang="en-US" sz="2000" dirty="0" err="1"/>
              <a:t>hỗ</a:t>
            </a:r>
            <a:r>
              <a:rPr lang="en-US" sz="2000" dirty="0"/>
              <a:t> </a:t>
            </a:r>
            <a:r>
              <a:rPr lang="en-US" sz="2000" dirty="0" err="1"/>
              <a:t>trợ</a:t>
            </a:r>
            <a:r>
              <a:rPr lang="en-US" sz="2000" dirty="0"/>
              <a:t> </a:t>
            </a:r>
            <a:r>
              <a:rPr lang="en-US" sz="2000" dirty="0" err="1"/>
              <a:t>phân</a:t>
            </a:r>
            <a:r>
              <a:rPr lang="en-US" sz="2000" dirty="0"/>
              <a:t> </a:t>
            </a:r>
            <a:r>
              <a:rPr lang="en-US" sz="2000" dirty="0" err="1"/>
              <a:t>tích</a:t>
            </a:r>
            <a:r>
              <a:rPr lang="en-US" sz="2000" dirty="0"/>
              <a:t>: pandas, </a:t>
            </a:r>
            <a:r>
              <a:rPr lang="en-US" sz="2000" dirty="0" err="1"/>
              <a:t>numpy</a:t>
            </a:r>
            <a:r>
              <a:rPr lang="en-US" sz="2000" dirty="0"/>
              <a:t>, matplotlib, seaborn, scikit-learn</a:t>
            </a:r>
          </a:p>
          <a:p>
            <a:endParaRPr lang="en-US" sz="2000" dirty="0"/>
          </a:p>
        </p:txBody>
      </p:sp>
    </p:spTree>
    <p:extLst>
      <p:ext uri="{BB962C8B-B14F-4D97-AF65-F5344CB8AC3E}">
        <p14:creationId xmlns:p14="http://schemas.microsoft.com/office/powerpoint/2010/main" val="4196646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D75AE7-0103-DD51-0444-36B6C00C9E95}"/>
              </a:ext>
            </a:extLst>
          </p:cNvPr>
          <p:cNvSpPr>
            <a:spLocks noGrp="1"/>
          </p:cNvSpPr>
          <p:nvPr>
            <p:ph type="title"/>
          </p:nvPr>
        </p:nvSpPr>
        <p:spPr>
          <a:xfrm>
            <a:off x="371094" y="1161288"/>
            <a:ext cx="3438144" cy="1124712"/>
          </a:xfrm>
        </p:spPr>
        <p:txBody>
          <a:bodyPr anchor="b">
            <a:normAutofit/>
          </a:bodyPr>
          <a:lstStyle/>
          <a:p>
            <a:r>
              <a:rPr lang="en-US" sz="2800"/>
              <a:t>Kết quả phân tích dữ liệu</a:t>
            </a:r>
          </a:p>
        </p:txBody>
      </p:sp>
      <p:sp>
        <p:nvSpPr>
          <p:cNvPr id="18" name="Rectangle 1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86172CE-7A70-A785-78E1-BA34950A72A5}"/>
              </a:ext>
            </a:extLst>
          </p:cNvPr>
          <p:cNvSpPr>
            <a:spLocks noGrp="1"/>
          </p:cNvSpPr>
          <p:nvPr>
            <p:ph idx="1"/>
          </p:nvPr>
        </p:nvSpPr>
        <p:spPr>
          <a:xfrm>
            <a:off x="371094" y="2718054"/>
            <a:ext cx="3438906" cy="3207258"/>
          </a:xfrm>
        </p:spPr>
        <p:txBody>
          <a:bodyPr anchor="t">
            <a:normAutofit/>
          </a:bodyPr>
          <a:lstStyle/>
          <a:p>
            <a:r>
              <a:rPr lang="en-US" sz="1700"/>
              <a:t>Xu hướng nhiệt độ bất thường có tăng rõ trong giai đoạn 1880–2025.</a:t>
            </a:r>
          </a:p>
          <a:p>
            <a:endParaRPr lang="en-US" sz="1700"/>
          </a:p>
        </p:txBody>
      </p:sp>
      <p:pic>
        <p:nvPicPr>
          <p:cNvPr id="7" name="Picture 6">
            <a:extLst>
              <a:ext uri="{FF2B5EF4-FFF2-40B4-BE49-F238E27FC236}">
                <a16:creationId xmlns:a16="http://schemas.microsoft.com/office/drawing/2014/main" id="{77F70E03-0B81-4FB3-1D3D-8223BA0DF53D}"/>
              </a:ext>
            </a:extLst>
          </p:cNvPr>
          <p:cNvPicPr>
            <a:picLocks noChangeAspect="1"/>
          </p:cNvPicPr>
          <p:nvPr/>
        </p:nvPicPr>
        <p:blipFill>
          <a:blip r:embed="rId2"/>
          <a:stretch>
            <a:fillRect/>
          </a:stretch>
        </p:blipFill>
        <p:spPr>
          <a:xfrm>
            <a:off x="4898967" y="1476258"/>
            <a:ext cx="6921940" cy="4014724"/>
          </a:xfrm>
          <a:prstGeom prst="rect">
            <a:avLst/>
          </a:prstGeom>
        </p:spPr>
      </p:pic>
    </p:spTree>
    <p:extLst>
      <p:ext uri="{BB962C8B-B14F-4D97-AF65-F5344CB8AC3E}">
        <p14:creationId xmlns:p14="http://schemas.microsoft.com/office/powerpoint/2010/main" val="333481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C29245-EE54-E5EB-D927-F8BF33D9C40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2516EB5-61D0-3483-5590-D03AA6711A02}"/>
              </a:ext>
            </a:extLst>
          </p:cNvPr>
          <p:cNvSpPr>
            <a:spLocks noGrp="1"/>
          </p:cNvSpPr>
          <p:nvPr>
            <p:ph type="title"/>
          </p:nvPr>
        </p:nvSpPr>
        <p:spPr>
          <a:xfrm>
            <a:off x="371094" y="1161288"/>
            <a:ext cx="3438144" cy="1124712"/>
          </a:xfrm>
        </p:spPr>
        <p:txBody>
          <a:bodyPr anchor="b">
            <a:normAutofit/>
          </a:bodyPr>
          <a:lstStyle/>
          <a:p>
            <a:r>
              <a:rPr lang="en-US" sz="2800"/>
              <a:t>Kết quả phân tích dữ liệu</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B5C7DF4-9B09-8B7E-C3F0-900751A4B8F1}"/>
              </a:ext>
            </a:extLst>
          </p:cNvPr>
          <p:cNvSpPr>
            <a:spLocks noGrp="1"/>
          </p:cNvSpPr>
          <p:nvPr>
            <p:ph idx="1"/>
          </p:nvPr>
        </p:nvSpPr>
        <p:spPr>
          <a:xfrm>
            <a:off x="371094" y="2718054"/>
            <a:ext cx="3438906" cy="3207258"/>
          </a:xfrm>
        </p:spPr>
        <p:txBody>
          <a:bodyPr anchor="t">
            <a:normAutofit/>
          </a:bodyPr>
          <a:lstStyle/>
          <a:p>
            <a:r>
              <a:rPr lang="en-US" sz="1700"/>
              <a:t>Thập kỷ lạnh nhất là 1910s, thập kỷ nóng nhất là 2020s.</a:t>
            </a:r>
          </a:p>
          <a:p>
            <a:endParaRPr lang="en-US" sz="1700" dirty="0"/>
          </a:p>
        </p:txBody>
      </p:sp>
      <p:pic>
        <p:nvPicPr>
          <p:cNvPr id="4" name="Picture 3">
            <a:extLst>
              <a:ext uri="{FF2B5EF4-FFF2-40B4-BE49-F238E27FC236}">
                <a16:creationId xmlns:a16="http://schemas.microsoft.com/office/drawing/2014/main" id="{946E1B2B-A339-9EBF-3958-1BF4865FC8AC}"/>
              </a:ext>
            </a:extLst>
          </p:cNvPr>
          <p:cNvPicPr>
            <a:picLocks noChangeAspect="1"/>
          </p:cNvPicPr>
          <p:nvPr/>
        </p:nvPicPr>
        <p:blipFill>
          <a:blip r:embed="rId2"/>
          <a:stretch>
            <a:fillRect/>
          </a:stretch>
        </p:blipFill>
        <p:spPr>
          <a:xfrm>
            <a:off x="4898967" y="1692569"/>
            <a:ext cx="6921940" cy="3582103"/>
          </a:xfrm>
          <a:prstGeom prst="rect">
            <a:avLst/>
          </a:prstGeom>
        </p:spPr>
      </p:pic>
    </p:spTree>
    <p:extLst>
      <p:ext uri="{BB962C8B-B14F-4D97-AF65-F5344CB8AC3E}">
        <p14:creationId xmlns:p14="http://schemas.microsoft.com/office/powerpoint/2010/main" val="2612894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EB9C7-A011-3209-9182-0523BCA9A71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760E34-F9E9-73CC-198F-7D0105901ACA}"/>
              </a:ext>
            </a:extLst>
          </p:cNvPr>
          <p:cNvSpPr>
            <a:spLocks noGrp="1"/>
          </p:cNvSpPr>
          <p:nvPr>
            <p:ph type="title"/>
          </p:nvPr>
        </p:nvSpPr>
        <p:spPr>
          <a:xfrm>
            <a:off x="371094" y="1161288"/>
            <a:ext cx="3438144" cy="1124712"/>
          </a:xfrm>
        </p:spPr>
        <p:txBody>
          <a:bodyPr anchor="b">
            <a:normAutofit/>
          </a:bodyPr>
          <a:lstStyle/>
          <a:p>
            <a:r>
              <a:rPr lang="en-US" sz="2800"/>
              <a:t>Kết quả phân tích dữ liệu</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00FEB1E-B48B-DE63-5559-0B0BC00DF23B}"/>
              </a:ext>
            </a:extLst>
          </p:cNvPr>
          <p:cNvSpPr>
            <a:spLocks noGrp="1"/>
          </p:cNvSpPr>
          <p:nvPr>
            <p:ph idx="1"/>
          </p:nvPr>
        </p:nvSpPr>
        <p:spPr>
          <a:xfrm>
            <a:off x="371094" y="2718054"/>
            <a:ext cx="3438906" cy="3207258"/>
          </a:xfrm>
        </p:spPr>
        <p:txBody>
          <a:bodyPr anchor="t">
            <a:normAutofit/>
          </a:bodyPr>
          <a:lstStyle/>
          <a:p>
            <a:pPr>
              <a:lnSpc>
                <a:spcPct val="100000"/>
              </a:lnSpc>
            </a:pPr>
            <a:r>
              <a:rPr lang="en-US" sz="1700"/>
              <a:t>Năm nóng nhất là 2024, năm lạnh nhất là 1909.</a:t>
            </a:r>
          </a:p>
          <a:p>
            <a:pPr>
              <a:lnSpc>
                <a:spcPct val="100000"/>
              </a:lnSpc>
            </a:pPr>
            <a:r>
              <a:rPr lang="en-US" sz="1700"/>
              <a:t>Năm 2024 nóng nhất trong lịch sử hiện đại gắn liền với hiện tượng El Niño mạnh và biến đổi khí hậu toàn cầu, trong khi năm 1909 lạnh nhất liên quan đến một giai đoạn La Niña mạnh và hoạt động bất thường của núi lửa, khiến nhiệt độ toàn cầu giảm sâu.</a:t>
            </a:r>
          </a:p>
          <a:p>
            <a:pPr>
              <a:lnSpc>
                <a:spcPct val="100000"/>
              </a:lnSpc>
            </a:pPr>
            <a:endParaRPr lang="en-US" sz="1700"/>
          </a:p>
        </p:txBody>
      </p:sp>
      <p:pic>
        <p:nvPicPr>
          <p:cNvPr id="4" name="Picture 3">
            <a:extLst>
              <a:ext uri="{FF2B5EF4-FFF2-40B4-BE49-F238E27FC236}">
                <a16:creationId xmlns:a16="http://schemas.microsoft.com/office/drawing/2014/main" id="{72538A1B-58F2-9EC8-2685-6284A44530DE}"/>
              </a:ext>
            </a:extLst>
          </p:cNvPr>
          <p:cNvPicPr>
            <a:picLocks noChangeAspect="1"/>
          </p:cNvPicPr>
          <p:nvPr/>
        </p:nvPicPr>
        <p:blipFill>
          <a:blip r:embed="rId2"/>
          <a:stretch>
            <a:fillRect/>
          </a:stretch>
        </p:blipFill>
        <p:spPr>
          <a:xfrm>
            <a:off x="4898967" y="1208033"/>
            <a:ext cx="6921940" cy="4551175"/>
          </a:xfrm>
          <a:prstGeom prst="rect">
            <a:avLst/>
          </a:prstGeom>
        </p:spPr>
      </p:pic>
    </p:spTree>
    <p:extLst>
      <p:ext uri="{BB962C8B-B14F-4D97-AF65-F5344CB8AC3E}">
        <p14:creationId xmlns:p14="http://schemas.microsoft.com/office/powerpoint/2010/main" val="142276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E988FB-8184-F96B-5EBE-009A65631E13}"/>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3" name="Freeform: Shape 62">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5" name="Freeform: Shape 64">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7DE15A6-817F-77EA-75BB-28FC9FE386CE}"/>
              </a:ext>
            </a:extLst>
          </p:cNvPr>
          <p:cNvSpPr>
            <a:spLocks noGrp="1"/>
          </p:cNvSpPr>
          <p:nvPr>
            <p:ph type="title"/>
          </p:nvPr>
        </p:nvSpPr>
        <p:spPr>
          <a:xfrm>
            <a:off x="438913" y="859536"/>
            <a:ext cx="4832802" cy="1243584"/>
          </a:xfrm>
        </p:spPr>
        <p:txBody>
          <a:bodyPr>
            <a:normAutofit/>
          </a:bodyPr>
          <a:lstStyle/>
          <a:p>
            <a:r>
              <a:rPr lang="en-US" sz="3400"/>
              <a:t>Kết quả phân tích dữ liệu</a:t>
            </a:r>
          </a:p>
        </p:txBody>
      </p:sp>
      <p:sp>
        <p:nvSpPr>
          <p:cNvPr id="67" name="Rectangle 6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6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103DFA1-2AFF-6B48-28B5-90D76E955727}"/>
              </a:ext>
            </a:extLst>
          </p:cNvPr>
          <p:cNvSpPr>
            <a:spLocks noGrp="1"/>
          </p:cNvSpPr>
          <p:nvPr>
            <p:ph idx="1"/>
          </p:nvPr>
        </p:nvSpPr>
        <p:spPr>
          <a:xfrm>
            <a:off x="438912" y="2512611"/>
            <a:ext cx="4832803" cy="3664351"/>
          </a:xfrm>
        </p:spPr>
        <p:txBody>
          <a:bodyPr>
            <a:normAutofit/>
          </a:bodyPr>
          <a:lstStyle/>
          <a:p>
            <a:r>
              <a:rPr lang="en-US" sz="1800"/>
              <a:t>Các mùa đều có xu hướng tăng, nhưng mức tăng không hoàn toàn giống nhau.</a:t>
            </a:r>
          </a:p>
          <a:p>
            <a:pPr lvl="1"/>
            <a:r>
              <a:rPr lang="en-US" sz="1800"/>
              <a:t>DJF- Đông: xu hướng tăng trung bình = 0.008718°C/năm</a:t>
            </a:r>
          </a:p>
          <a:p>
            <a:pPr lvl="1"/>
            <a:r>
              <a:rPr lang="en-US" sz="1800"/>
              <a:t>MAM - Xuân: xu hướng tăng trung bình = 0.008551°C/năm</a:t>
            </a:r>
          </a:p>
          <a:p>
            <a:pPr lvl="1"/>
            <a:r>
              <a:rPr lang="en-US" sz="1800"/>
              <a:t>JJA – Hè: xu hướng tăng trung bình = 0.007960°C/năm</a:t>
            </a:r>
          </a:p>
          <a:p>
            <a:pPr lvl="1"/>
            <a:r>
              <a:rPr lang="en-US" sz="1800"/>
              <a:t>SON – Thu: xu hướng tăng trung bình = 0.008039°C/năm</a:t>
            </a:r>
          </a:p>
          <a:p>
            <a:endParaRPr lang="en-US" sz="1800"/>
          </a:p>
        </p:txBody>
      </p:sp>
      <p:pic>
        <p:nvPicPr>
          <p:cNvPr id="5" name="Picture 4">
            <a:extLst>
              <a:ext uri="{FF2B5EF4-FFF2-40B4-BE49-F238E27FC236}">
                <a16:creationId xmlns:a16="http://schemas.microsoft.com/office/drawing/2014/main" id="{27AFF13A-3C82-E0BB-B822-E5EDA193D2E4}"/>
              </a:ext>
            </a:extLst>
          </p:cNvPr>
          <p:cNvPicPr>
            <a:picLocks noChangeAspect="1"/>
          </p:cNvPicPr>
          <p:nvPr/>
        </p:nvPicPr>
        <p:blipFill>
          <a:blip r:embed="rId3"/>
          <a:srcRect l="-2306" t="-3125" r="-12" b="1406"/>
          <a:stretch>
            <a:fillRect/>
          </a:stretch>
        </p:blipFill>
        <p:spPr>
          <a:xfrm>
            <a:off x="6096000" y="322476"/>
            <a:ext cx="5764790" cy="1862586"/>
          </a:xfrm>
          <a:prstGeom prst="rect">
            <a:avLst/>
          </a:prstGeom>
        </p:spPr>
      </p:pic>
      <p:pic>
        <p:nvPicPr>
          <p:cNvPr id="4" name="Picture 3">
            <a:extLst>
              <a:ext uri="{FF2B5EF4-FFF2-40B4-BE49-F238E27FC236}">
                <a16:creationId xmlns:a16="http://schemas.microsoft.com/office/drawing/2014/main" id="{0CADC6B4-52CF-970E-E979-DCD204E94F6A}"/>
              </a:ext>
            </a:extLst>
          </p:cNvPr>
          <p:cNvPicPr>
            <a:picLocks noChangeAspect="1"/>
          </p:cNvPicPr>
          <p:nvPr/>
        </p:nvPicPr>
        <p:blipFill>
          <a:blip r:embed="rId4"/>
          <a:srcRect l="-1285" r="91"/>
          <a:stretch>
            <a:fillRect/>
          </a:stretch>
        </p:blipFill>
        <p:spPr>
          <a:xfrm>
            <a:off x="6096000" y="3835215"/>
            <a:ext cx="5799461" cy="1862586"/>
          </a:xfrm>
          <a:prstGeom prst="rect">
            <a:avLst/>
          </a:prstGeom>
        </p:spPr>
      </p:pic>
    </p:spTree>
    <p:extLst>
      <p:ext uri="{BB962C8B-B14F-4D97-AF65-F5344CB8AC3E}">
        <p14:creationId xmlns:p14="http://schemas.microsoft.com/office/powerpoint/2010/main" val="1860279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4EDED1-6813-F6E5-31E8-ABFA7B188490}"/>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285249-6D9A-CAC8-5EB3-2E98B0AA3B69}"/>
              </a:ext>
            </a:extLst>
          </p:cNvPr>
          <p:cNvSpPr>
            <a:spLocks noGrp="1"/>
          </p:cNvSpPr>
          <p:nvPr>
            <p:ph type="title"/>
          </p:nvPr>
        </p:nvSpPr>
        <p:spPr>
          <a:xfrm>
            <a:off x="438913" y="859536"/>
            <a:ext cx="4832802" cy="1243584"/>
          </a:xfrm>
        </p:spPr>
        <p:txBody>
          <a:bodyPr>
            <a:normAutofit/>
          </a:bodyPr>
          <a:lstStyle/>
          <a:p>
            <a:r>
              <a:rPr lang="en-US" sz="3400"/>
              <a:t>Kết quả phân tích dữ liệu</a:t>
            </a:r>
          </a:p>
        </p:txBody>
      </p:sp>
      <p:sp>
        <p:nvSpPr>
          <p:cNvPr id="24" name="Rectangle 23">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09B7A84-5F8E-5B43-7AC7-487598F49244}"/>
              </a:ext>
            </a:extLst>
          </p:cNvPr>
          <p:cNvSpPr>
            <a:spLocks noGrp="1"/>
          </p:cNvSpPr>
          <p:nvPr>
            <p:ph idx="1"/>
          </p:nvPr>
        </p:nvSpPr>
        <p:spPr>
          <a:xfrm>
            <a:off x="438912" y="2512611"/>
            <a:ext cx="4832803" cy="3664351"/>
          </a:xfrm>
        </p:spPr>
        <p:txBody>
          <a:bodyPr>
            <a:normAutofit/>
          </a:bodyPr>
          <a:lstStyle/>
          <a:p>
            <a:r>
              <a:rPr lang="en-US" sz="1800"/>
              <a:t>Các mùa đều có xu hướng tăng, nhưng mức tăng không hoàn toàn giống nhau.</a:t>
            </a:r>
          </a:p>
          <a:p>
            <a:pPr lvl="1"/>
            <a:r>
              <a:rPr lang="en-US" sz="1800"/>
              <a:t>DJF- Đông: xu hướng tăng trung bình = 0.008718°C/năm</a:t>
            </a:r>
          </a:p>
          <a:p>
            <a:pPr lvl="1"/>
            <a:r>
              <a:rPr lang="en-US" sz="1800"/>
              <a:t>MAM - Xuân: xu hướng tăng trung bình = 0.008551°C/năm</a:t>
            </a:r>
          </a:p>
          <a:p>
            <a:pPr lvl="1"/>
            <a:r>
              <a:rPr lang="en-US" sz="1800"/>
              <a:t>JJA – Hè: xu hướng tăng trung bình = 0.007960°C/năm</a:t>
            </a:r>
          </a:p>
          <a:p>
            <a:pPr lvl="1"/>
            <a:r>
              <a:rPr lang="en-US" sz="1800"/>
              <a:t>SON – Thu: xu hướng tăng trung bình = 0.008039°C/năm</a:t>
            </a:r>
          </a:p>
          <a:p>
            <a:endParaRPr lang="en-US" sz="1800"/>
          </a:p>
        </p:txBody>
      </p:sp>
      <p:pic>
        <p:nvPicPr>
          <p:cNvPr id="6" name="Picture 5">
            <a:extLst>
              <a:ext uri="{FF2B5EF4-FFF2-40B4-BE49-F238E27FC236}">
                <a16:creationId xmlns:a16="http://schemas.microsoft.com/office/drawing/2014/main" id="{76226F7B-7461-77CD-6945-2AB9403E3BD9}"/>
              </a:ext>
            </a:extLst>
          </p:cNvPr>
          <p:cNvPicPr>
            <a:picLocks noChangeAspect="1"/>
          </p:cNvPicPr>
          <p:nvPr/>
        </p:nvPicPr>
        <p:blipFill>
          <a:blip r:embed="rId3"/>
          <a:stretch>
            <a:fillRect/>
          </a:stretch>
        </p:blipFill>
        <p:spPr>
          <a:xfrm>
            <a:off x="6085369" y="534377"/>
            <a:ext cx="5813649" cy="1889435"/>
          </a:xfrm>
          <a:prstGeom prst="rect">
            <a:avLst/>
          </a:prstGeom>
        </p:spPr>
      </p:pic>
      <p:pic>
        <p:nvPicPr>
          <p:cNvPr id="7" name="Picture 6">
            <a:extLst>
              <a:ext uri="{FF2B5EF4-FFF2-40B4-BE49-F238E27FC236}">
                <a16:creationId xmlns:a16="http://schemas.microsoft.com/office/drawing/2014/main" id="{C44B3A9C-10BD-8A43-0EE3-6D24820AF765}"/>
              </a:ext>
            </a:extLst>
          </p:cNvPr>
          <p:cNvPicPr>
            <a:picLocks noChangeAspect="1"/>
          </p:cNvPicPr>
          <p:nvPr/>
        </p:nvPicPr>
        <p:blipFill>
          <a:blip r:embed="rId4"/>
          <a:stretch>
            <a:fillRect/>
          </a:stretch>
        </p:blipFill>
        <p:spPr>
          <a:xfrm>
            <a:off x="6085370" y="3987521"/>
            <a:ext cx="5813649" cy="1889435"/>
          </a:xfrm>
          <a:prstGeom prst="rect">
            <a:avLst/>
          </a:prstGeom>
        </p:spPr>
      </p:pic>
    </p:spTree>
    <p:extLst>
      <p:ext uri="{BB962C8B-B14F-4D97-AF65-F5344CB8AC3E}">
        <p14:creationId xmlns:p14="http://schemas.microsoft.com/office/powerpoint/2010/main" val="1910433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8F0B90-6FF6-F876-A189-C84AE7BDAF4D}"/>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004CC50-CFEF-954F-5939-0DFE12588843}"/>
              </a:ext>
            </a:extLst>
          </p:cNvPr>
          <p:cNvSpPr>
            <a:spLocks noGrp="1"/>
          </p:cNvSpPr>
          <p:nvPr>
            <p:ph type="title"/>
          </p:nvPr>
        </p:nvSpPr>
        <p:spPr>
          <a:xfrm>
            <a:off x="1046746" y="586822"/>
            <a:ext cx="3537285" cy="1645920"/>
          </a:xfrm>
        </p:spPr>
        <p:txBody>
          <a:bodyPr>
            <a:normAutofit/>
          </a:bodyPr>
          <a:lstStyle/>
          <a:p>
            <a:r>
              <a:rPr lang="en-US" sz="3200"/>
              <a:t>Kết quả phân tích dữ liệu</a:t>
            </a:r>
          </a:p>
        </p:txBody>
      </p:sp>
      <p:sp>
        <p:nvSpPr>
          <p:cNvPr id="21" name="Rectangle 20">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8113" y="1405210"/>
            <a:ext cx="14630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FBCC798-34ED-AF79-30F3-7FEDB3C52B47}"/>
              </a:ext>
            </a:extLst>
          </p:cNvPr>
          <p:cNvSpPr>
            <a:spLocks noGrp="1"/>
          </p:cNvSpPr>
          <p:nvPr>
            <p:ph idx="1"/>
          </p:nvPr>
        </p:nvSpPr>
        <p:spPr>
          <a:xfrm>
            <a:off x="5351164" y="586822"/>
            <a:ext cx="6002636" cy="1645920"/>
          </a:xfrm>
        </p:spPr>
        <p:txBody>
          <a:bodyPr anchor="ctr">
            <a:normAutofit/>
          </a:bodyPr>
          <a:lstStyle/>
          <a:p>
            <a:r>
              <a:rPr lang="en-US" sz="1800"/>
              <a:t>Dữ liệu cho thấy sự dao động có thể xảy ra nhưng tổng xu hướng là tăng dần.</a:t>
            </a:r>
          </a:p>
          <a:p>
            <a:endParaRPr lang="en-US" sz="1800"/>
          </a:p>
        </p:txBody>
      </p:sp>
      <p:pic>
        <p:nvPicPr>
          <p:cNvPr id="4" name="Picture 3">
            <a:extLst>
              <a:ext uri="{FF2B5EF4-FFF2-40B4-BE49-F238E27FC236}">
                <a16:creationId xmlns:a16="http://schemas.microsoft.com/office/drawing/2014/main" id="{CF2AFE7B-AAB3-2E50-BFCF-B81534B427B8}"/>
              </a:ext>
            </a:extLst>
          </p:cNvPr>
          <p:cNvPicPr>
            <a:picLocks noChangeAspect="1"/>
          </p:cNvPicPr>
          <p:nvPr/>
        </p:nvPicPr>
        <p:blipFill>
          <a:blip r:embed="rId2"/>
          <a:stretch>
            <a:fillRect/>
          </a:stretch>
        </p:blipFill>
        <p:spPr>
          <a:xfrm>
            <a:off x="2225743" y="2734056"/>
            <a:ext cx="7828906" cy="3483864"/>
          </a:xfrm>
          <a:prstGeom prst="rect">
            <a:avLst/>
          </a:prstGeom>
        </p:spPr>
      </p:pic>
    </p:spTree>
    <p:extLst>
      <p:ext uri="{BB962C8B-B14F-4D97-AF65-F5344CB8AC3E}">
        <p14:creationId xmlns:p14="http://schemas.microsoft.com/office/powerpoint/2010/main" val="2656221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A5424E-6119-D46D-5698-2DA7883FEF66}"/>
              </a:ext>
            </a:extLst>
          </p:cNvPr>
          <p:cNvSpPr>
            <a:spLocks noGrp="1"/>
          </p:cNvSpPr>
          <p:nvPr>
            <p:ph type="title"/>
          </p:nvPr>
        </p:nvSpPr>
        <p:spPr>
          <a:xfrm>
            <a:off x="371094" y="1161288"/>
            <a:ext cx="3438144" cy="1239012"/>
          </a:xfrm>
        </p:spPr>
        <p:txBody>
          <a:bodyPr anchor="ctr">
            <a:normAutofit/>
          </a:bodyPr>
          <a:lstStyle/>
          <a:p>
            <a:r>
              <a:rPr lang="en-US" sz="2800"/>
              <a:t>Kết quả dự đoán</a:t>
            </a:r>
          </a:p>
        </p:txBody>
      </p:sp>
      <p:sp>
        <p:nvSpPr>
          <p:cNvPr id="15" name="Rectangle 1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176B384-59F0-A247-05C3-12E5AF484676}"/>
              </a:ext>
            </a:extLst>
          </p:cNvPr>
          <p:cNvSpPr>
            <a:spLocks noGrp="1"/>
          </p:cNvSpPr>
          <p:nvPr>
            <p:ph idx="1"/>
          </p:nvPr>
        </p:nvSpPr>
        <p:spPr>
          <a:xfrm>
            <a:off x="185546" y="2505796"/>
            <a:ext cx="4455673" cy="4395384"/>
          </a:xfrm>
        </p:spPr>
        <p:txBody>
          <a:bodyPr anchor="t">
            <a:normAutofit/>
          </a:bodyPr>
          <a:lstStyle/>
          <a:p>
            <a:pPr algn="just">
              <a:lnSpc>
                <a:spcPct val="100000"/>
              </a:lnSpc>
            </a:pPr>
            <a:r>
              <a:rPr lang="en-US" sz="1400" dirty="0" err="1"/>
              <a:t>Dựa</a:t>
            </a:r>
            <a:r>
              <a:rPr lang="en-US" sz="1400" dirty="0"/>
              <a:t> </a:t>
            </a:r>
            <a:r>
              <a:rPr lang="en-US" sz="1400" dirty="0" err="1"/>
              <a:t>trên</a:t>
            </a:r>
            <a:r>
              <a:rPr lang="en-US" sz="1400" dirty="0"/>
              <a:t> xu </a:t>
            </a:r>
            <a:r>
              <a:rPr lang="en-US" sz="1400" dirty="0" err="1"/>
              <a:t>hướng</a:t>
            </a:r>
            <a:r>
              <a:rPr lang="en-US" sz="1400" dirty="0"/>
              <a:t> </a:t>
            </a:r>
            <a:r>
              <a:rPr lang="en-US" sz="1400" dirty="0" err="1"/>
              <a:t>tăng</a:t>
            </a:r>
            <a:r>
              <a:rPr lang="en-US" sz="1400" dirty="0"/>
              <a:t> </a:t>
            </a:r>
            <a:r>
              <a:rPr lang="en-US" sz="1400" dirty="0" err="1"/>
              <a:t>tuyến</a:t>
            </a:r>
            <a:r>
              <a:rPr lang="en-US" sz="1400" dirty="0"/>
              <a:t> </a:t>
            </a:r>
            <a:r>
              <a:rPr lang="en-US" sz="1400" dirty="0" err="1"/>
              <a:t>tính</a:t>
            </a:r>
            <a:r>
              <a:rPr lang="en-US" sz="1400" dirty="0"/>
              <a:t> </a:t>
            </a:r>
            <a:r>
              <a:rPr lang="en-US" sz="1400" dirty="0" err="1"/>
              <a:t>của</a:t>
            </a:r>
            <a:r>
              <a:rPr lang="en-US" sz="1400" dirty="0"/>
              <a:t> </a:t>
            </a:r>
            <a:r>
              <a:rPr lang="en-US" sz="1400" dirty="0" err="1"/>
              <a:t>dữ</a:t>
            </a:r>
            <a:r>
              <a:rPr lang="en-US" sz="1400" dirty="0"/>
              <a:t> </a:t>
            </a:r>
            <a:r>
              <a:rPr lang="en-US" sz="1400" dirty="0" err="1"/>
              <a:t>liệu</a:t>
            </a:r>
            <a:r>
              <a:rPr lang="en-US" sz="1400" dirty="0"/>
              <a:t> </a:t>
            </a:r>
            <a:r>
              <a:rPr lang="en-US" sz="1400" dirty="0" err="1"/>
              <a:t>từ</a:t>
            </a:r>
            <a:r>
              <a:rPr lang="en-US" sz="1400" dirty="0"/>
              <a:t> 1880 </a:t>
            </a:r>
            <a:r>
              <a:rPr lang="en-US" sz="1400" dirty="0" err="1"/>
              <a:t>đến</a:t>
            </a:r>
            <a:r>
              <a:rPr lang="en-US" sz="1400" dirty="0"/>
              <a:t> 2025, </a:t>
            </a:r>
            <a:r>
              <a:rPr lang="en-US" sz="1400" dirty="0" err="1"/>
              <a:t>mô</a:t>
            </a:r>
            <a:r>
              <a:rPr lang="en-US" sz="1400" dirty="0"/>
              <a:t> </a:t>
            </a:r>
            <a:r>
              <a:rPr lang="en-US" sz="1400" dirty="0" err="1"/>
              <a:t>hình</a:t>
            </a:r>
            <a:r>
              <a:rPr lang="en-US" sz="1400" dirty="0"/>
              <a:t> </a:t>
            </a:r>
            <a:r>
              <a:rPr lang="en-US" sz="1400" dirty="0" err="1"/>
              <a:t>ước</a:t>
            </a:r>
            <a:r>
              <a:rPr lang="en-US" sz="1400" dirty="0"/>
              <a:t> </a:t>
            </a:r>
            <a:r>
              <a:rPr lang="en-US" sz="1400" dirty="0" err="1"/>
              <a:t>tính</a:t>
            </a:r>
            <a:r>
              <a:rPr lang="en-US" sz="1400" dirty="0"/>
              <a:t> </a:t>
            </a:r>
            <a:r>
              <a:rPr lang="en-US" sz="1400" dirty="0" err="1"/>
              <a:t>nhiệt</a:t>
            </a:r>
            <a:r>
              <a:rPr lang="en-US" sz="1400" dirty="0"/>
              <a:t> </a:t>
            </a:r>
            <a:r>
              <a:rPr lang="en-US" sz="1400" dirty="0" err="1"/>
              <a:t>độ</a:t>
            </a:r>
            <a:r>
              <a:rPr lang="en-US" sz="1400" dirty="0"/>
              <a:t> </a:t>
            </a:r>
            <a:r>
              <a:rPr lang="en-US" sz="1400" dirty="0" err="1"/>
              <a:t>bất</a:t>
            </a:r>
            <a:r>
              <a:rPr lang="en-US" sz="1400" dirty="0"/>
              <a:t> </a:t>
            </a:r>
            <a:r>
              <a:rPr lang="en-US" sz="1400" dirty="0" err="1"/>
              <a:t>thường</a:t>
            </a:r>
            <a:r>
              <a:rPr lang="en-US" sz="1400" dirty="0"/>
              <a:t> </a:t>
            </a:r>
            <a:r>
              <a:rPr lang="en-US" sz="1400" dirty="0" err="1"/>
              <a:t>năm</a:t>
            </a:r>
            <a:r>
              <a:rPr lang="en-US" sz="1400" dirty="0"/>
              <a:t> 2030 </a:t>
            </a:r>
            <a:r>
              <a:rPr lang="en-US" sz="1400" dirty="0" err="1"/>
              <a:t>sẽ</a:t>
            </a:r>
            <a:r>
              <a:rPr lang="en-US" sz="1400" dirty="0"/>
              <a:t> </a:t>
            </a:r>
            <a:r>
              <a:rPr lang="en-US" sz="1400" dirty="0" err="1"/>
              <a:t>đạt</a:t>
            </a:r>
            <a:r>
              <a:rPr lang="en-US" sz="1400" dirty="0"/>
              <a:t> </a:t>
            </a:r>
            <a:r>
              <a:rPr lang="en-US" sz="1400" dirty="0" err="1"/>
              <a:t>khoảng</a:t>
            </a:r>
            <a:r>
              <a:rPr lang="en-US" sz="1400" dirty="0"/>
              <a:t> </a:t>
            </a:r>
            <a:r>
              <a:rPr lang="en-US" sz="1400" b="1" dirty="0"/>
              <a:t>*0.73°C*</a:t>
            </a:r>
            <a:r>
              <a:rPr lang="en-US" sz="1400" dirty="0"/>
              <a:t>.</a:t>
            </a:r>
          </a:p>
          <a:p>
            <a:pPr algn="just">
              <a:lnSpc>
                <a:spcPct val="100000"/>
              </a:lnSpc>
            </a:pPr>
            <a:r>
              <a:rPr lang="en-US" sz="1400" dirty="0" err="1"/>
              <a:t>Từ</a:t>
            </a:r>
            <a:r>
              <a:rPr lang="en-US" sz="1400" dirty="0"/>
              <a:t> </a:t>
            </a:r>
            <a:r>
              <a:rPr lang="en-US" sz="1400" dirty="0" err="1"/>
              <a:t>kết</a:t>
            </a:r>
            <a:r>
              <a:rPr lang="en-US" sz="1400" dirty="0"/>
              <a:t> </a:t>
            </a:r>
            <a:r>
              <a:rPr lang="en-US" sz="1400" dirty="0" err="1"/>
              <a:t>quả</a:t>
            </a:r>
            <a:r>
              <a:rPr lang="en-US" sz="1400" dirty="0"/>
              <a:t> </a:t>
            </a:r>
            <a:r>
              <a:rPr lang="en-US" sz="1400" dirty="0" err="1"/>
              <a:t>phân</a:t>
            </a:r>
            <a:r>
              <a:rPr lang="en-US" sz="1400" dirty="0"/>
              <a:t> </a:t>
            </a:r>
            <a:r>
              <a:rPr lang="en-US" sz="1400" dirty="0" err="1"/>
              <a:t>cụm</a:t>
            </a:r>
            <a:r>
              <a:rPr lang="en-US" sz="1400" dirty="0"/>
              <a:t>, </a:t>
            </a:r>
            <a:r>
              <a:rPr lang="en-US" sz="1400" dirty="0" err="1"/>
              <a:t>các</a:t>
            </a:r>
            <a:r>
              <a:rPr lang="en-US" sz="1400" dirty="0"/>
              <a:t> </a:t>
            </a:r>
            <a:r>
              <a:rPr lang="en-US" sz="1400" dirty="0" err="1"/>
              <a:t>thập</a:t>
            </a:r>
            <a:r>
              <a:rPr lang="en-US" sz="1400" dirty="0"/>
              <a:t> </a:t>
            </a:r>
            <a:r>
              <a:rPr lang="en-US" sz="1400" dirty="0" err="1"/>
              <a:t>kỷ</a:t>
            </a:r>
            <a:r>
              <a:rPr lang="en-US" sz="1400" dirty="0"/>
              <a:t> </a:t>
            </a:r>
            <a:r>
              <a:rPr lang="en-US" sz="1400" dirty="0" err="1"/>
              <a:t>gần</a:t>
            </a:r>
            <a:r>
              <a:rPr lang="en-US" sz="1400" dirty="0"/>
              <a:t> </a:t>
            </a:r>
            <a:r>
              <a:rPr lang="en-US" sz="1400" dirty="0" err="1"/>
              <a:t>đây</a:t>
            </a:r>
            <a:r>
              <a:rPr lang="en-US" sz="1400" dirty="0"/>
              <a:t> (2010s, 2020s) </a:t>
            </a:r>
            <a:r>
              <a:rPr lang="en-US" sz="1400" dirty="0" err="1"/>
              <a:t>thuộc</a:t>
            </a:r>
            <a:r>
              <a:rPr lang="en-US" sz="1400" dirty="0"/>
              <a:t> </a:t>
            </a:r>
            <a:r>
              <a:rPr lang="en-US" sz="1400" dirty="0" err="1"/>
              <a:t>nhóm</a:t>
            </a:r>
            <a:r>
              <a:rPr lang="en-US" sz="1400" dirty="0"/>
              <a:t> </a:t>
            </a:r>
            <a:r>
              <a:rPr lang="en-US" sz="1400" dirty="0" err="1"/>
              <a:t>có</a:t>
            </a:r>
            <a:r>
              <a:rPr lang="en-US" sz="1400" dirty="0"/>
              <a:t> </a:t>
            </a:r>
            <a:r>
              <a:rPr lang="en-US" sz="1400" dirty="0" err="1"/>
              <a:t>mức</a:t>
            </a:r>
            <a:r>
              <a:rPr lang="en-US" sz="1400" dirty="0"/>
              <a:t> </a:t>
            </a:r>
            <a:r>
              <a:rPr lang="en-US" sz="1400" dirty="0" err="1"/>
              <a:t>nhiệt</a:t>
            </a:r>
            <a:r>
              <a:rPr lang="en-US" sz="1400" dirty="0"/>
              <a:t> </a:t>
            </a:r>
            <a:r>
              <a:rPr lang="en-US" sz="1400" dirty="0" err="1"/>
              <a:t>độ</a:t>
            </a:r>
            <a:r>
              <a:rPr lang="en-US" sz="1400" dirty="0"/>
              <a:t> </a:t>
            </a:r>
            <a:r>
              <a:rPr lang="en-US" sz="1400" dirty="0" err="1"/>
              <a:t>cao</a:t>
            </a:r>
            <a:r>
              <a:rPr lang="en-US" sz="1400" dirty="0"/>
              <a:t> </a:t>
            </a:r>
            <a:r>
              <a:rPr lang="en-US" sz="1400" dirty="0" err="1"/>
              <a:t>nhất</a:t>
            </a:r>
            <a:r>
              <a:rPr lang="en-US" sz="1400" dirty="0"/>
              <a:t>, </a:t>
            </a:r>
            <a:r>
              <a:rPr lang="en-US" sz="1400" dirty="0" err="1"/>
              <a:t>cho</a:t>
            </a:r>
            <a:r>
              <a:rPr lang="en-US" sz="1400" dirty="0"/>
              <a:t> </a:t>
            </a:r>
            <a:r>
              <a:rPr lang="en-US" sz="1400" dirty="0" err="1"/>
              <a:t>thấy</a:t>
            </a:r>
            <a:r>
              <a:rPr lang="en-US" sz="1400" dirty="0"/>
              <a:t> xu </a:t>
            </a:r>
            <a:r>
              <a:rPr lang="en-US" sz="1400" dirty="0" err="1"/>
              <a:t>hướng</a:t>
            </a:r>
            <a:r>
              <a:rPr lang="en-US" sz="1400" dirty="0"/>
              <a:t> </a:t>
            </a:r>
            <a:r>
              <a:rPr lang="en-US" sz="1400" dirty="0" err="1"/>
              <a:t>nóng</a:t>
            </a:r>
            <a:r>
              <a:rPr lang="en-US" sz="1400" dirty="0"/>
              <a:t> lên </a:t>
            </a:r>
            <a:r>
              <a:rPr lang="en-US" sz="1400" dirty="0" err="1"/>
              <a:t>đang</a:t>
            </a:r>
            <a:r>
              <a:rPr lang="en-US" sz="1400" dirty="0"/>
              <a:t> </a:t>
            </a:r>
            <a:r>
              <a:rPr lang="en-US" sz="1400" dirty="0" err="1"/>
              <a:t>tiếp</a:t>
            </a:r>
            <a:r>
              <a:rPr lang="en-US" sz="1400" dirty="0"/>
              <a:t> </a:t>
            </a:r>
            <a:r>
              <a:rPr lang="en-US" sz="1400" dirty="0" err="1"/>
              <a:t>tục</a:t>
            </a:r>
            <a:r>
              <a:rPr lang="en-US" sz="1400" dirty="0"/>
              <a:t> </a:t>
            </a:r>
            <a:r>
              <a:rPr lang="en-US" sz="1400" dirty="0" err="1"/>
              <a:t>mạnh</a:t>
            </a:r>
            <a:r>
              <a:rPr lang="en-US" sz="1400" dirty="0"/>
              <a:t> </a:t>
            </a:r>
            <a:r>
              <a:rPr lang="en-US" sz="1400" dirty="0" err="1"/>
              <a:t>hơn</a:t>
            </a:r>
            <a:r>
              <a:rPr lang="en-US" sz="1400" dirty="0"/>
              <a:t> so </a:t>
            </a:r>
            <a:r>
              <a:rPr lang="en-US" sz="1400" dirty="0" err="1"/>
              <a:t>với</a:t>
            </a:r>
            <a:r>
              <a:rPr lang="en-US" sz="1400" dirty="0"/>
              <a:t> </a:t>
            </a:r>
            <a:r>
              <a:rPr lang="en-US" sz="1400" dirty="0" err="1"/>
              <a:t>giai</a:t>
            </a:r>
            <a:r>
              <a:rPr lang="en-US" sz="1400" dirty="0"/>
              <a:t> </a:t>
            </a:r>
            <a:r>
              <a:rPr lang="en-US" sz="1400" dirty="0" err="1"/>
              <a:t>đoạn</a:t>
            </a:r>
            <a:r>
              <a:rPr lang="en-US" sz="1400" dirty="0"/>
              <a:t> </a:t>
            </a:r>
            <a:r>
              <a:rPr lang="en-US" sz="1400" dirty="0" err="1"/>
              <a:t>đầu</a:t>
            </a:r>
            <a:r>
              <a:rPr lang="en-US" sz="1400" dirty="0"/>
              <a:t> </a:t>
            </a:r>
            <a:r>
              <a:rPr lang="en-US" sz="1400" dirty="0" err="1"/>
              <a:t>thế</a:t>
            </a:r>
            <a:r>
              <a:rPr lang="en-US" sz="1400" dirty="0"/>
              <a:t> </a:t>
            </a:r>
            <a:r>
              <a:rPr lang="en-US" sz="1400" dirty="0" err="1"/>
              <a:t>kỷ</a:t>
            </a:r>
            <a:r>
              <a:rPr lang="en-US" sz="1400" dirty="0"/>
              <a:t>.</a:t>
            </a:r>
          </a:p>
          <a:p>
            <a:pPr algn="just">
              <a:lnSpc>
                <a:spcPct val="100000"/>
              </a:lnSpc>
            </a:pPr>
            <a:r>
              <a:rPr lang="en-US" sz="1400" b="1" dirty="0" err="1"/>
              <a:t>Kết</a:t>
            </a:r>
            <a:r>
              <a:rPr lang="en-US" sz="1400" b="1" dirty="0"/>
              <a:t> </a:t>
            </a:r>
            <a:r>
              <a:rPr lang="en-US" sz="1400" b="1" dirty="0" err="1"/>
              <a:t>luận</a:t>
            </a:r>
            <a:r>
              <a:rPr lang="en-US" sz="1400" b="1" dirty="0"/>
              <a:t> </a:t>
            </a:r>
            <a:r>
              <a:rPr lang="en-US" sz="1400" b="1" dirty="0" err="1"/>
              <a:t>dự</a:t>
            </a:r>
            <a:r>
              <a:rPr lang="en-US" sz="1400" b="1" dirty="0"/>
              <a:t> </a:t>
            </a:r>
            <a:r>
              <a:rPr lang="en-US" sz="1400" b="1" dirty="0" err="1"/>
              <a:t>đoán</a:t>
            </a:r>
            <a:r>
              <a:rPr lang="en-US" sz="1400" b="1" dirty="0"/>
              <a:t> 1</a:t>
            </a:r>
            <a:endParaRPr lang="en-US" sz="1400" dirty="0"/>
          </a:p>
          <a:p>
            <a:pPr lvl="0" algn="just">
              <a:lnSpc>
                <a:spcPct val="100000"/>
              </a:lnSpc>
            </a:pPr>
            <a:r>
              <a:rPr lang="en-US" sz="1400" dirty="0" err="1"/>
              <a:t>KMeans</a:t>
            </a:r>
            <a:r>
              <a:rPr lang="en-US" sz="1400" dirty="0"/>
              <a:t> chia </a:t>
            </a:r>
            <a:r>
              <a:rPr lang="en-US" sz="1400" dirty="0" err="1"/>
              <a:t>các</a:t>
            </a:r>
            <a:r>
              <a:rPr lang="en-US" sz="1400" dirty="0"/>
              <a:t> </a:t>
            </a:r>
            <a:r>
              <a:rPr lang="en-US" sz="1400" dirty="0" err="1"/>
              <a:t>thập</a:t>
            </a:r>
            <a:r>
              <a:rPr lang="en-US" sz="1400" dirty="0"/>
              <a:t> </a:t>
            </a:r>
            <a:r>
              <a:rPr lang="en-US" sz="1400" dirty="0" err="1"/>
              <a:t>kỷ</a:t>
            </a:r>
            <a:r>
              <a:rPr lang="en-US" sz="1400" dirty="0"/>
              <a:t> </a:t>
            </a:r>
            <a:r>
              <a:rPr lang="en-US" sz="1400" dirty="0" err="1"/>
              <a:t>thành</a:t>
            </a:r>
            <a:r>
              <a:rPr lang="en-US" sz="1400" dirty="0"/>
              <a:t> 3 </a:t>
            </a:r>
            <a:r>
              <a:rPr lang="en-US" sz="1400" dirty="0" err="1"/>
              <a:t>nhóm</a:t>
            </a:r>
            <a:r>
              <a:rPr lang="en-US" sz="1400" dirty="0"/>
              <a:t> </a:t>
            </a:r>
            <a:r>
              <a:rPr lang="en-US" sz="1400" dirty="0" err="1"/>
              <a:t>chính</a:t>
            </a:r>
            <a:r>
              <a:rPr lang="en-US" sz="1400" dirty="0"/>
              <a:t>: </a:t>
            </a:r>
            <a:r>
              <a:rPr lang="en-US" sz="1400" dirty="0" err="1"/>
              <a:t>nhóm</a:t>
            </a:r>
            <a:r>
              <a:rPr lang="en-US" sz="1400" dirty="0"/>
              <a:t> </a:t>
            </a:r>
            <a:r>
              <a:rPr lang="en-US" sz="1400" dirty="0" err="1"/>
              <a:t>lạnh</a:t>
            </a:r>
            <a:r>
              <a:rPr lang="en-US" sz="1400" dirty="0"/>
              <a:t>/</a:t>
            </a:r>
            <a:r>
              <a:rPr lang="en-US" sz="1400" dirty="0" err="1"/>
              <a:t>lúc</a:t>
            </a:r>
            <a:r>
              <a:rPr lang="en-US" sz="1400" dirty="0"/>
              <a:t> </a:t>
            </a:r>
            <a:r>
              <a:rPr lang="en-US" sz="1400" dirty="0" err="1"/>
              <a:t>đầu</a:t>
            </a:r>
            <a:r>
              <a:rPr lang="en-US" sz="1400" dirty="0"/>
              <a:t>, </a:t>
            </a:r>
            <a:r>
              <a:rPr lang="en-US" sz="1400" dirty="0" err="1"/>
              <a:t>nhóm</a:t>
            </a:r>
            <a:r>
              <a:rPr lang="en-US" sz="1400" dirty="0"/>
              <a:t> </a:t>
            </a:r>
            <a:r>
              <a:rPr lang="en-US" sz="1400" dirty="0" err="1"/>
              <a:t>chuyển</a:t>
            </a:r>
            <a:r>
              <a:rPr lang="en-US" sz="1400" dirty="0"/>
              <a:t> </a:t>
            </a:r>
            <a:r>
              <a:rPr lang="en-US" sz="1400" dirty="0" err="1"/>
              <a:t>tiếp</a:t>
            </a:r>
            <a:r>
              <a:rPr lang="en-US" sz="1400" dirty="0"/>
              <a:t>, </a:t>
            </a:r>
            <a:r>
              <a:rPr lang="en-US" sz="1400" dirty="0" err="1"/>
              <a:t>nhóm</a:t>
            </a:r>
            <a:r>
              <a:rPr lang="en-US" sz="1400" dirty="0"/>
              <a:t> </a:t>
            </a:r>
            <a:r>
              <a:rPr lang="en-US" sz="1400" dirty="0" err="1"/>
              <a:t>nóng</a:t>
            </a:r>
            <a:r>
              <a:rPr lang="en-US" sz="1400" dirty="0"/>
              <a:t> </a:t>
            </a:r>
            <a:r>
              <a:rPr lang="en-US" sz="1400" dirty="0" err="1"/>
              <a:t>gần</a:t>
            </a:r>
            <a:r>
              <a:rPr lang="en-US" sz="1400" dirty="0"/>
              <a:t> </a:t>
            </a:r>
            <a:r>
              <a:rPr lang="en-US" sz="1400" dirty="0" err="1"/>
              <a:t>đây</a:t>
            </a:r>
            <a:r>
              <a:rPr lang="en-US" sz="1400" dirty="0"/>
              <a:t>.</a:t>
            </a:r>
          </a:p>
          <a:p>
            <a:pPr lvl="0" algn="just">
              <a:lnSpc>
                <a:spcPct val="100000"/>
              </a:lnSpc>
            </a:pPr>
            <a:r>
              <a:rPr lang="en-US" sz="1400" dirty="0" err="1"/>
              <a:t>Điều</a:t>
            </a:r>
            <a:r>
              <a:rPr lang="en-US" sz="1400" dirty="0"/>
              <a:t> </a:t>
            </a:r>
            <a:r>
              <a:rPr lang="en-US" sz="1400" dirty="0" err="1"/>
              <a:t>này</a:t>
            </a:r>
            <a:r>
              <a:rPr lang="en-US" sz="1400" dirty="0"/>
              <a:t> </a:t>
            </a:r>
            <a:r>
              <a:rPr lang="en-US" sz="1400" dirty="0" err="1"/>
              <a:t>cho</a:t>
            </a:r>
            <a:r>
              <a:rPr lang="en-US" sz="1400" dirty="0"/>
              <a:t> </a:t>
            </a:r>
            <a:r>
              <a:rPr lang="en-US" sz="1400" dirty="0" err="1"/>
              <a:t>thấy</a:t>
            </a:r>
            <a:r>
              <a:rPr lang="en-US" sz="1400" dirty="0"/>
              <a:t> xu </a:t>
            </a:r>
            <a:r>
              <a:rPr lang="en-US" sz="1400" dirty="0" err="1"/>
              <a:t>hướng</a:t>
            </a:r>
            <a:r>
              <a:rPr lang="en-US" sz="1400" dirty="0"/>
              <a:t> </a:t>
            </a:r>
            <a:r>
              <a:rPr lang="en-US" sz="1400" dirty="0" err="1"/>
              <a:t>nhiệt</a:t>
            </a:r>
            <a:r>
              <a:rPr lang="en-US" sz="1400" dirty="0"/>
              <a:t> </a:t>
            </a:r>
            <a:r>
              <a:rPr lang="en-US" sz="1400" dirty="0" err="1"/>
              <a:t>độ</a:t>
            </a:r>
            <a:r>
              <a:rPr lang="en-US" sz="1400" dirty="0"/>
              <a:t> </a:t>
            </a:r>
            <a:r>
              <a:rPr lang="en-US" sz="1400" dirty="0" err="1"/>
              <a:t>có</a:t>
            </a:r>
            <a:r>
              <a:rPr lang="en-US" sz="1400" dirty="0"/>
              <a:t> </a:t>
            </a:r>
            <a:r>
              <a:rPr lang="en-US" sz="1400" dirty="0" err="1"/>
              <a:t>chuyển</a:t>
            </a:r>
            <a:r>
              <a:rPr lang="en-US" sz="1400" dirty="0"/>
              <a:t> </a:t>
            </a:r>
            <a:r>
              <a:rPr lang="en-US" sz="1400" dirty="0" err="1"/>
              <a:t>từ</a:t>
            </a:r>
            <a:r>
              <a:rPr lang="en-US" sz="1400" dirty="0"/>
              <a:t> </a:t>
            </a:r>
            <a:r>
              <a:rPr lang="en-US" sz="1400" dirty="0" err="1"/>
              <a:t>âm</a:t>
            </a:r>
            <a:r>
              <a:rPr lang="en-US" sz="1400" dirty="0"/>
              <a:t> sang </a:t>
            </a:r>
            <a:r>
              <a:rPr lang="en-US" sz="1400" dirty="0" err="1"/>
              <a:t>dương</a:t>
            </a:r>
            <a:r>
              <a:rPr lang="en-US" sz="1400" dirty="0"/>
              <a:t> </a:t>
            </a:r>
            <a:r>
              <a:rPr lang="en-US" sz="1400" dirty="0" err="1"/>
              <a:t>rõ</a:t>
            </a:r>
            <a:r>
              <a:rPr lang="en-US" sz="1400" dirty="0"/>
              <a:t> </a:t>
            </a:r>
            <a:r>
              <a:rPr lang="en-US" sz="1400" dirty="0" err="1"/>
              <a:t>rệt</a:t>
            </a:r>
            <a:r>
              <a:rPr lang="en-US" sz="1400" dirty="0"/>
              <a:t> </a:t>
            </a:r>
            <a:r>
              <a:rPr lang="en-US" sz="1400" dirty="0" err="1"/>
              <a:t>theo</a:t>
            </a:r>
            <a:r>
              <a:rPr lang="en-US" sz="1400" dirty="0"/>
              <a:t> </a:t>
            </a:r>
            <a:r>
              <a:rPr lang="en-US" sz="1400" dirty="0" err="1"/>
              <a:t>thời</a:t>
            </a:r>
            <a:r>
              <a:rPr lang="en-US" sz="1400" dirty="0"/>
              <a:t> </a:t>
            </a:r>
            <a:r>
              <a:rPr lang="en-US" sz="1400" dirty="0" err="1"/>
              <a:t>gian</a:t>
            </a:r>
            <a:r>
              <a:rPr lang="en-US" sz="1400" dirty="0"/>
              <a:t>.</a:t>
            </a:r>
          </a:p>
          <a:p>
            <a:pPr lvl="0" algn="just">
              <a:lnSpc>
                <a:spcPct val="100000"/>
              </a:lnSpc>
            </a:pPr>
            <a:r>
              <a:rPr lang="en-US" sz="1400" dirty="0"/>
              <a:t>Các </a:t>
            </a:r>
            <a:r>
              <a:rPr lang="en-US" sz="1400" dirty="0" err="1"/>
              <a:t>thập</a:t>
            </a:r>
            <a:r>
              <a:rPr lang="en-US" sz="1400" dirty="0"/>
              <a:t> </a:t>
            </a:r>
            <a:r>
              <a:rPr lang="en-US" sz="1400" dirty="0" err="1"/>
              <a:t>kỷ</a:t>
            </a:r>
            <a:r>
              <a:rPr lang="en-US" sz="1400" dirty="0"/>
              <a:t> </a:t>
            </a:r>
            <a:r>
              <a:rPr lang="en-US" sz="1400" dirty="0" err="1"/>
              <a:t>gần</a:t>
            </a:r>
            <a:r>
              <a:rPr lang="en-US" sz="1400" dirty="0"/>
              <a:t> </a:t>
            </a:r>
            <a:r>
              <a:rPr lang="en-US" sz="1400" dirty="0" err="1"/>
              <a:t>đây</a:t>
            </a:r>
            <a:r>
              <a:rPr lang="en-US" sz="1400" dirty="0"/>
              <a:t> (2010s, 2020s) </a:t>
            </a:r>
            <a:r>
              <a:rPr lang="en-US" sz="1400" dirty="0" err="1"/>
              <a:t>nằm</a:t>
            </a:r>
            <a:r>
              <a:rPr lang="en-US" sz="1400" dirty="0"/>
              <a:t> </a:t>
            </a:r>
            <a:r>
              <a:rPr lang="en-US" sz="1400" dirty="0" err="1"/>
              <a:t>trong</a:t>
            </a:r>
            <a:r>
              <a:rPr lang="en-US" sz="1400" dirty="0"/>
              <a:t> </a:t>
            </a:r>
            <a:r>
              <a:rPr lang="en-US" sz="1400" dirty="0" err="1"/>
              <a:t>nhóm</a:t>
            </a:r>
            <a:r>
              <a:rPr lang="en-US" sz="1400" dirty="0"/>
              <a:t> </a:t>
            </a:r>
            <a:r>
              <a:rPr lang="en-US" sz="1400" dirty="0" err="1"/>
              <a:t>có</a:t>
            </a:r>
            <a:r>
              <a:rPr lang="en-US" sz="1400" dirty="0"/>
              <a:t> </a:t>
            </a:r>
            <a:r>
              <a:rPr lang="en-US" sz="1400" dirty="0" err="1"/>
              <a:t>nhiệt</a:t>
            </a:r>
            <a:r>
              <a:rPr lang="en-US" sz="1400" dirty="0"/>
              <a:t> </a:t>
            </a:r>
            <a:r>
              <a:rPr lang="en-US" sz="1400" dirty="0" err="1"/>
              <a:t>độ</a:t>
            </a:r>
            <a:r>
              <a:rPr lang="en-US" sz="1400" dirty="0"/>
              <a:t> </a:t>
            </a:r>
            <a:r>
              <a:rPr lang="en-US" sz="1400" dirty="0" err="1"/>
              <a:t>bất</a:t>
            </a:r>
            <a:r>
              <a:rPr lang="en-US" sz="1400" dirty="0"/>
              <a:t> </a:t>
            </a:r>
            <a:r>
              <a:rPr lang="en-US" sz="1400" dirty="0" err="1"/>
              <a:t>thường</a:t>
            </a:r>
            <a:r>
              <a:rPr lang="en-US" sz="1400" dirty="0"/>
              <a:t> </a:t>
            </a:r>
            <a:r>
              <a:rPr lang="en-US" sz="1400" dirty="0" err="1"/>
              <a:t>cao</a:t>
            </a:r>
            <a:r>
              <a:rPr lang="en-US" sz="1400" dirty="0"/>
              <a:t> </a:t>
            </a:r>
            <a:r>
              <a:rPr lang="en-US" sz="1400" dirty="0" err="1"/>
              <a:t>nhất</a:t>
            </a:r>
            <a:r>
              <a:rPr lang="en-US" sz="1400" dirty="0"/>
              <a:t>.</a:t>
            </a:r>
          </a:p>
          <a:p>
            <a:pPr>
              <a:lnSpc>
                <a:spcPct val="100000"/>
              </a:lnSpc>
            </a:pPr>
            <a:endParaRPr lang="en-US" sz="1400" dirty="0"/>
          </a:p>
        </p:txBody>
      </p:sp>
      <p:pic>
        <p:nvPicPr>
          <p:cNvPr id="4" name="Picture 3">
            <a:extLst>
              <a:ext uri="{FF2B5EF4-FFF2-40B4-BE49-F238E27FC236}">
                <a16:creationId xmlns:a16="http://schemas.microsoft.com/office/drawing/2014/main" id="{99B20A2E-E28F-F48F-3743-4D8231BD4216}"/>
              </a:ext>
            </a:extLst>
          </p:cNvPr>
          <p:cNvPicPr>
            <a:picLocks noChangeAspect="1"/>
          </p:cNvPicPr>
          <p:nvPr/>
        </p:nvPicPr>
        <p:blipFill>
          <a:blip r:embed="rId2"/>
          <a:stretch>
            <a:fillRect/>
          </a:stretch>
        </p:blipFill>
        <p:spPr>
          <a:xfrm>
            <a:off x="4901184" y="1229639"/>
            <a:ext cx="6922008" cy="4499305"/>
          </a:xfrm>
          <a:prstGeom prst="rect">
            <a:avLst/>
          </a:prstGeom>
        </p:spPr>
      </p:pic>
    </p:spTree>
    <p:extLst>
      <p:ext uri="{BB962C8B-B14F-4D97-AF65-F5344CB8AC3E}">
        <p14:creationId xmlns:p14="http://schemas.microsoft.com/office/powerpoint/2010/main" val="3748530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01CDC1-D1A5-6E0C-3BE4-20270B997A1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B4B181-682A-E0CF-AD31-B4A2F0B3AA94}"/>
              </a:ext>
            </a:extLst>
          </p:cNvPr>
          <p:cNvSpPr>
            <a:spLocks noGrp="1"/>
          </p:cNvSpPr>
          <p:nvPr>
            <p:ph type="title"/>
          </p:nvPr>
        </p:nvSpPr>
        <p:spPr>
          <a:xfrm>
            <a:off x="1046746" y="586822"/>
            <a:ext cx="3537285" cy="1645920"/>
          </a:xfrm>
        </p:spPr>
        <p:txBody>
          <a:bodyPr>
            <a:normAutofit/>
          </a:bodyPr>
          <a:lstStyle/>
          <a:p>
            <a:r>
              <a:rPr lang="en-US" sz="3200"/>
              <a:t>Kết quả dự đoán</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8113" y="1405210"/>
            <a:ext cx="14630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05D28A4-305E-023D-9220-E6BF9770D925}"/>
              </a:ext>
            </a:extLst>
          </p:cNvPr>
          <p:cNvSpPr>
            <a:spLocks noGrp="1"/>
          </p:cNvSpPr>
          <p:nvPr>
            <p:ph idx="1"/>
          </p:nvPr>
        </p:nvSpPr>
        <p:spPr>
          <a:xfrm>
            <a:off x="5351164" y="586822"/>
            <a:ext cx="6002636" cy="1645920"/>
          </a:xfrm>
        </p:spPr>
        <p:txBody>
          <a:bodyPr anchor="ctr">
            <a:normAutofit/>
          </a:bodyPr>
          <a:lstStyle/>
          <a:p>
            <a:pPr>
              <a:lnSpc>
                <a:spcPct val="100000"/>
              </a:lnSpc>
            </a:pPr>
            <a:r>
              <a:rPr lang="en-US" sz="1100" b="1" dirty="0" err="1"/>
              <a:t>Kết</a:t>
            </a:r>
            <a:r>
              <a:rPr lang="en-US" sz="1100" b="1" dirty="0"/>
              <a:t> </a:t>
            </a:r>
            <a:r>
              <a:rPr lang="en-US" sz="1100" b="1" dirty="0" err="1"/>
              <a:t>luận</a:t>
            </a:r>
            <a:r>
              <a:rPr lang="en-US" sz="1100" b="1" dirty="0"/>
              <a:t> </a:t>
            </a:r>
            <a:r>
              <a:rPr lang="en-US" sz="1100" b="1" dirty="0" err="1"/>
              <a:t>dự</a:t>
            </a:r>
            <a:r>
              <a:rPr lang="en-US" sz="1100" b="1" dirty="0"/>
              <a:t> </a:t>
            </a:r>
            <a:r>
              <a:rPr lang="en-US" sz="1100" b="1" dirty="0" err="1"/>
              <a:t>đoán</a:t>
            </a:r>
            <a:r>
              <a:rPr lang="en-US" sz="1100" b="1" dirty="0"/>
              <a:t> 2</a:t>
            </a:r>
            <a:endParaRPr lang="en-US" sz="1100" dirty="0"/>
          </a:p>
          <a:p>
            <a:pPr lvl="0">
              <a:lnSpc>
                <a:spcPct val="100000"/>
              </a:lnSpc>
            </a:pPr>
            <a:r>
              <a:rPr lang="en-US" sz="1100" dirty="0" err="1"/>
              <a:t>Tỷ</a:t>
            </a:r>
            <a:r>
              <a:rPr lang="en-US" sz="1100" dirty="0"/>
              <a:t> </a:t>
            </a:r>
            <a:r>
              <a:rPr lang="en-US" sz="1100" dirty="0" err="1"/>
              <a:t>lệ</a:t>
            </a:r>
            <a:r>
              <a:rPr lang="en-US" sz="1100" dirty="0"/>
              <a:t> </a:t>
            </a:r>
            <a:r>
              <a:rPr lang="en-US" sz="1100" dirty="0" err="1"/>
              <a:t>năm</a:t>
            </a:r>
            <a:r>
              <a:rPr lang="en-US" sz="1100" dirty="0"/>
              <a:t> </a:t>
            </a:r>
            <a:r>
              <a:rPr lang="en-US" sz="1100" dirty="0" err="1"/>
              <a:t>thuộc</a:t>
            </a:r>
            <a:r>
              <a:rPr lang="en-US" sz="1100" dirty="0"/>
              <a:t> </a:t>
            </a:r>
            <a:r>
              <a:rPr lang="en-US" sz="1100" dirty="0" err="1"/>
              <a:t>lớp</a:t>
            </a:r>
            <a:r>
              <a:rPr lang="en-US" sz="1100" dirty="0"/>
              <a:t> "</a:t>
            </a:r>
            <a:r>
              <a:rPr lang="en-US" sz="1100" dirty="0" err="1"/>
              <a:t>cao</a:t>
            </a:r>
            <a:r>
              <a:rPr lang="en-US" sz="1100" dirty="0"/>
              <a:t>" </a:t>
            </a:r>
            <a:r>
              <a:rPr lang="en-US" sz="1100" dirty="0" err="1"/>
              <a:t>tăng</a:t>
            </a:r>
            <a:r>
              <a:rPr lang="en-US" sz="1100" dirty="0"/>
              <a:t> </a:t>
            </a:r>
            <a:r>
              <a:rPr lang="en-US" sz="1100" dirty="0" err="1"/>
              <a:t>mạnh</a:t>
            </a:r>
            <a:r>
              <a:rPr lang="en-US" sz="1100" dirty="0"/>
              <a:t> qua </a:t>
            </a:r>
            <a:r>
              <a:rPr lang="en-US" sz="1100" dirty="0" err="1"/>
              <a:t>các</a:t>
            </a:r>
            <a:r>
              <a:rPr lang="en-US" sz="1100" dirty="0"/>
              <a:t> </a:t>
            </a:r>
            <a:r>
              <a:rPr lang="en-US" sz="1100" dirty="0" err="1"/>
              <a:t>thập</a:t>
            </a:r>
            <a:r>
              <a:rPr lang="en-US" sz="1100" dirty="0"/>
              <a:t> </a:t>
            </a:r>
            <a:r>
              <a:rPr lang="en-US" sz="1100" dirty="0" err="1"/>
              <a:t>kỷ</a:t>
            </a:r>
            <a:r>
              <a:rPr lang="en-US" sz="1100" dirty="0"/>
              <a:t>, </a:t>
            </a:r>
            <a:r>
              <a:rPr lang="en-US" sz="1100" dirty="0" err="1"/>
              <a:t>đặc</a:t>
            </a:r>
            <a:r>
              <a:rPr lang="en-US" sz="1100" dirty="0"/>
              <a:t> </a:t>
            </a:r>
            <a:r>
              <a:rPr lang="en-US" sz="1100" dirty="0" err="1"/>
              <a:t>biệt</a:t>
            </a:r>
            <a:r>
              <a:rPr lang="en-US" sz="1100" dirty="0"/>
              <a:t> </a:t>
            </a:r>
            <a:r>
              <a:rPr lang="en-US" sz="1100" dirty="0" err="1"/>
              <a:t>từ</a:t>
            </a:r>
            <a:r>
              <a:rPr lang="en-US" sz="1100" dirty="0"/>
              <a:t> </a:t>
            </a:r>
            <a:r>
              <a:rPr lang="en-US" sz="1100" dirty="0" err="1"/>
              <a:t>khoảng</a:t>
            </a:r>
            <a:r>
              <a:rPr lang="en-US" sz="1100" dirty="0"/>
              <a:t> 1940 </a:t>
            </a:r>
            <a:r>
              <a:rPr lang="en-US" sz="1100" dirty="0" err="1"/>
              <a:t>trở</a:t>
            </a:r>
            <a:r>
              <a:rPr lang="en-US" sz="1100" dirty="0"/>
              <a:t> </a:t>
            </a:r>
            <a:r>
              <a:rPr lang="en-US" sz="1100" dirty="0" err="1"/>
              <a:t>đi</a:t>
            </a:r>
            <a:r>
              <a:rPr lang="en-US" sz="1100" dirty="0"/>
              <a:t>.</a:t>
            </a:r>
          </a:p>
          <a:p>
            <a:pPr lvl="0">
              <a:lnSpc>
                <a:spcPct val="100000"/>
              </a:lnSpc>
            </a:pPr>
            <a:r>
              <a:rPr lang="en-US" sz="1100" dirty="0" err="1"/>
              <a:t>Từ</a:t>
            </a:r>
            <a:r>
              <a:rPr lang="en-US" sz="1100" dirty="0"/>
              <a:t> </a:t>
            </a:r>
            <a:r>
              <a:rPr lang="en-US" sz="1100" dirty="0" err="1"/>
              <a:t>thập</a:t>
            </a:r>
            <a:r>
              <a:rPr lang="en-US" sz="1100" dirty="0"/>
              <a:t> </a:t>
            </a:r>
            <a:r>
              <a:rPr lang="en-US" sz="1100" dirty="0" err="1"/>
              <a:t>niên</a:t>
            </a:r>
            <a:r>
              <a:rPr lang="en-US" sz="1100" dirty="0"/>
              <a:t> 1980 </a:t>
            </a:r>
            <a:r>
              <a:rPr lang="en-US" sz="1100" dirty="0" err="1"/>
              <a:t>trở</a:t>
            </a:r>
            <a:r>
              <a:rPr lang="en-US" sz="1100" dirty="0"/>
              <a:t> </a:t>
            </a:r>
            <a:r>
              <a:rPr lang="en-US" sz="1100" dirty="0" err="1"/>
              <a:t>về</a:t>
            </a:r>
            <a:r>
              <a:rPr lang="en-US" sz="1100" dirty="0"/>
              <a:t> </a:t>
            </a:r>
            <a:r>
              <a:rPr lang="en-US" sz="1100" dirty="0" err="1"/>
              <a:t>sau</a:t>
            </a:r>
            <a:r>
              <a:rPr lang="en-US" sz="1100" dirty="0"/>
              <a:t>, </a:t>
            </a:r>
            <a:r>
              <a:rPr lang="en-US" sz="1100" dirty="0" err="1"/>
              <a:t>hầu</a:t>
            </a:r>
            <a:r>
              <a:rPr lang="en-US" sz="1100" dirty="0"/>
              <a:t> </a:t>
            </a:r>
            <a:r>
              <a:rPr lang="en-US" sz="1100" dirty="0" err="1"/>
              <a:t>hết</a:t>
            </a:r>
            <a:r>
              <a:rPr lang="en-US" sz="1100" dirty="0"/>
              <a:t> </a:t>
            </a:r>
            <a:r>
              <a:rPr lang="en-US" sz="1100" dirty="0" err="1"/>
              <a:t>các</a:t>
            </a:r>
            <a:r>
              <a:rPr lang="en-US" sz="1100" dirty="0"/>
              <a:t> </a:t>
            </a:r>
            <a:r>
              <a:rPr lang="en-US" sz="1100" dirty="0" err="1"/>
              <a:t>năm</a:t>
            </a:r>
            <a:r>
              <a:rPr lang="en-US" sz="1100" dirty="0"/>
              <a:t> </a:t>
            </a:r>
            <a:r>
              <a:rPr lang="en-US" sz="1100" dirty="0" err="1"/>
              <a:t>đều</a:t>
            </a:r>
            <a:r>
              <a:rPr lang="en-US" sz="1100" dirty="0"/>
              <a:t> </a:t>
            </a:r>
            <a:r>
              <a:rPr lang="en-US" sz="1100" dirty="0" err="1"/>
              <a:t>có</a:t>
            </a:r>
            <a:r>
              <a:rPr lang="en-US" sz="1100" dirty="0"/>
              <a:t> </a:t>
            </a:r>
            <a:r>
              <a:rPr lang="en-US" sz="1100" dirty="0" err="1"/>
              <a:t>giá</a:t>
            </a:r>
            <a:r>
              <a:rPr lang="en-US" sz="1100" dirty="0"/>
              <a:t> </a:t>
            </a:r>
            <a:r>
              <a:rPr lang="en-US" sz="1100" dirty="0" err="1"/>
              <a:t>trị</a:t>
            </a:r>
            <a:r>
              <a:rPr lang="en-US" sz="1100" dirty="0"/>
              <a:t> </a:t>
            </a:r>
            <a:r>
              <a:rPr lang="en-US" sz="1100" dirty="0" err="1"/>
              <a:t>nhiệt</a:t>
            </a:r>
            <a:r>
              <a:rPr lang="en-US" sz="1100" dirty="0"/>
              <a:t> </a:t>
            </a:r>
            <a:r>
              <a:rPr lang="en-US" sz="1100" dirty="0" err="1"/>
              <a:t>độ</a:t>
            </a:r>
            <a:r>
              <a:rPr lang="en-US" sz="1100" dirty="0"/>
              <a:t> </a:t>
            </a:r>
            <a:r>
              <a:rPr lang="en-US" sz="1100" dirty="0" err="1"/>
              <a:t>bất</a:t>
            </a:r>
            <a:r>
              <a:rPr lang="en-US" sz="1100" dirty="0"/>
              <a:t> </a:t>
            </a:r>
            <a:r>
              <a:rPr lang="en-US" sz="1100" dirty="0" err="1"/>
              <a:t>thường</a:t>
            </a:r>
            <a:r>
              <a:rPr lang="en-US" sz="1100" dirty="0"/>
              <a:t> </a:t>
            </a:r>
            <a:r>
              <a:rPr lang="en-US" sz="1100" dirty="0" err="1"/>
              <a:t>dương</a:t>
            </a:r>
            <a:r>
              <a:rPr lang="en-US" sz="1100" dirty="0"/>
              <a:t>.</a:t>
            </a:r>
          </a:p>
          <a:p>
            <a:pPr lvl="0">
              <a:lnSpc>
                <a:spcPct val="100000"/>
              </a:lnSpc>
            </a:pPr>
            <a:r>
              <a:rPr lang="en-US" sz="1100" dirty="0" err="1"/>
              <a:t>Điều</a:t>
            </a:r>
            <a:r>
              <a:rPr lang="en-US" sz="1100" dirty="0"/>
              <a:t> </a:t>
            </a:r>
            <a:r>
              <a:rPr lang="en-US" sz="1100" dirty="0" err="1"/>
              <a:t>này</a:t>
            </a:r>
            <a:r>
              <a:rPr lang="en-US" sz="1100" dirty="0"/>
              <a:t> </a:t>
            </a:r>
            <a:r>
              <a:rPr lang="en-US" sz="1100" dirty="0" err="1"/>
              <a:t>cho</a:t>
            </a:r>
            <a:r>
              <a:rPr lang="en-US" sz="1100" dirty="0"/>
              <a:t> </a:t>
            </a:r>
            <a:r>
              <a:rPr lang="en-US" sz="1100" dirty="0" err="1"/>
              <a:t>thấy</a:t>
            </a:r>
            <a:r>
              <a:rPr lang="en-US" sz="1100" dirty="0"/>
              <a:t> xu </a:t>
            </a:r>
            <a:r>
              <a:rPr lang="en-US" sz="1100" dirty="0" err="1"/>
              <a:t>hướng</a:t>
            </a:r>
            <a:r>
              <a:rPr lang="en-US" sz="1100" dirty="0"/>
              <a:t> </a:t>
            </a:r>
            <a:r>
              <a:rPr lang="en-US" sz="1100" dirty="0" err="1"/>
              <a:t>nóng</a:t>
            </a:r>
            <a:r>
              <a:rPr lang="en-US" sz="1100" dirty="0"/>
              <a:t> lên </a:t>
            </a:r>
            <a:r>
              <a:rPr lang="en-US" sz="1100" dirty="0" err="1"/>
              <a:t>đang</a:t>
            </a:r>
            <a:r>
              <a:rPr lang="en-US" sz="1100" dirty="0"/>
              <a:t> </a:t>
            </a:r>
            <a:r>
              <a:rPr lang="en-US" sz="1100" dirty="0" err="1"/>
              <a:t>trở</a:t>
            </a:r>
            <a:r>
              <a:rPr lang="en-US" sz="1100" dirty="0"/>
              <a:t> </a:t>
            </a:r>
            <a:r>
              <a:rPr lang="en-US" sz="1100" dirty="0" err="1"/>
              <a:t>thành</a:t>
            </a:r>
            <a:r>
              <a:rPr lang="en-US" sz="1100" dirty="0"/>
              <a:t> </a:t>
            </a:r>
            <a:r>
              <a:rPr lang="en-US" sz="1100" dirty="0" err="1"/>
              <a:t>hiện</a:t>
            </a:r>
            <a:r>
              <a:rPr lang="en-US" sz="1100" dirty="0"/>
              <a:t> </a:t>
            </a:r>
            <a:r>
              <a:rPr lang="en-US" sz="1100" dirty="0" err="1"/>
              <a:t>tượng</a:t>
            </a:r>
            <a:r>
              <a:rPr lang="en-US" sz="1100" dirty="0"/>
              <a:t> </a:t>
            </a:r>
            <a:r>
              <a:rPr lang="en-US" sz="1100" dirty="0" err="1"/>
              <a:t>ổn</a:t>
            </a:r>
            <a:r>
              <a:rPr lang="en-US" sz="1100" dirty="0"/>
              <a:t> </a:t>
            </a:r>
            <a:r>
              <a:rPr lang="en-US" sz="1100" dirty="0" err="1"/>
              <a:t>định</a:t>
            </a:r>
            <a:r>
              <a:rPr lang="en-US" sz="1100" dirty="0"/>
              <a:t> </a:t>
            </a:r>
            <a:r>
              <a:rPr lang="en-US" sz="1100" dirty="0" err="1"/>
              <a:t>hơn</a:t>
            </a:r>
            <a:r>
              <a:rPr lang="en-US" sz="1100" dirty="0"/>
              <a:t> </a:t>
            </a:r>
            <a:r>
              <a:rPr lang="en-US" sz="1100" dirty="0" err="1"/>
              <a:t>thay</a:t>
            </a:r>
            <a:r>
              <a:rPr lang="en-US" sz="1100" dirty="0"/>
              <a:t> </a:t>
            </a:r>
            <a:r>
              <a:rPr lang="en-US" sz="1100" dirty="0" err="1"/>
              <a:t>vì</a:t>
            </a:r>
            <a:r>
              <a:rPr lang="en-US" sz="1100" dirty="0"/>
              <a:t> </a:t>
            </a:r>
            <a:r>
              <a:rPr lang="en-US" sz="1100" dirty="0" err="1"/>
              <a:t>chỉ</a:t>
            </a:r>
            <a:r>
              <a:rPr lang="en-US" sz="1100" dirty="0"/>
              <a:t> </a:t>
            </a:r>
            <a:r>
              <a:rPr lang="en-US" sz="1100" dirty="0" err="1"/>
              <a:t>xuất</a:t>
            </a:r>
            <a:r>
              <a:rPr lang="en-US" sz="1100" dirty="0"/>
              <a:t> </a:t>
            </a:r>
            <a:r>
              <a:rPr lang="en-US" sz="1100" dirty="0" err="1"/>
              <a:t>hiện</a:t>
            </a:r>
            <a:r>
              <a:rPr lang="en-US" sz="1100" dirty="0"/>
              <a:t> </a:t>
            </a:r>
            <a:r>
              <a:rPr lang="en-US" sz="1100" dirty="0" err="1"/>
              <a:t>rải</a:t>
            </a:r>
            <a:r>
              <a:rPr lang="en-US" sz="1100" dirty="0"/>
              <a:t> </a:t>
            </a:r>
            <a:r>
              <a:rPr lang="en-US" sz="1100" dirty="0" err="1"/>
              <a:t>rác</a:t>
            </a:r>
            <a:endParaRPr lang="en-US" sz="1100" dirty="0"/>
          </a:p>
          <a:p>
            <a:pPr>
              <a:lnSpc>
                <a:spcPct val="100000"/>
              </a:lnSpc>
            </a:pPr>
            <a:endParaRPr lang="en-US" sz="2400" dirty="0"/>
          </a:p>
        </p:txBody>
      </p:sp>
      <p:pic>
        <p:nvPicPr>
          <p:cNvPr id="5" name="Picture 4">
            <a:extLst>
              <a:ext uri="{FF2B5EF4-FFF2-40B4-BE49-F238E27FC236}">
                <a16:creationId xmlns:a16="http://schemas.microsoft.com/office/drawing/2014/main" id="{5A49AA39-60C6-60AA-15AA-EEF8FB01E132}"/>
              </a:ext>
            </a:extLst>
          </p:cNvPr>
          <p:cNvPicPr>
            <a:picLocks noChangeAspect="1"/>
          </p:cNvPicPr>
          <p:nvPr/>
        </p:nvPicPr>
        <p:blipFill>
          <a:blip r:embed="rId2"/>
          <a:stretch>
            <a:fillRect/>
          </a:stretch>
        </p:blipFill>
        <p:spPr>
          <a:xfrm>
            <a:off x="1865517" y="2734056"/>
            <a:ext cx="8549358" cy="3483864"/>
          </a:xfrm>
          <a:prstGeom prst="rect">
            <a:avLst/>
          </a:prstGeom>
        </p:spPr>
      </p:pic>
    </p:spTree>
    <p:extLst>
      <p:ext uri="{BB962C8B-B14F-4D97-AF65-F5344CB8AC3E}">
        <p14:creationId xmlns:p14="http://schemas.microsoft.com/office/powerpoint/2010/main" val="3076000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Rectangle 27">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Rectangle 29">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Freeform: Shape 30">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Freeform: Shape 3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0C23632-BF60-1D68-C986-672EEEFE208F}"/>
              </a:ext>
            </a:extLst>
          </p:cNvPr>
          <p:cNvSpPr txBox="1"/>
          <p:nvPr/>
        </p:nvSpPr>
        <p:spPr>
          <a:xfrm>
            <a:off x="838200" y="253397"/>
            <a:ext cx="10515600" cy="1273233"/>
          </a:xfrm>
          <a:prstGeom prst="rect">
            <a:avLst/>
          </a:prstGeom>
        </p:spPr>
        <p:txBody>
          <a:bodyPr vert="horz" lIns="91440" tIns="45720" rIns="91440" bIns="45720" rtlCol="0" anchor="ctr">
            <a:normAutofit/>
          </a:bodyPr>
          <a:lstStyle/>
          <a:p>
            <a:pPr>
              <a:lnSpc>
                <a:spcPct val="90000"/>
              </a:lnSpc>
              <a:spcBef>
                <a:spcPct val="0"/>
              </a:spcBef>
              <a:spcAft>
                <a:spcPts val="600"/>
              </a:spcAft>
              <a:tabLst>
                <a:tab pos="180340" algn="l"/>
                <a:tab pos="342900" algn="l"/>
              </a:tabLst>
            </a:pPr>
            <a:r>
              <a:rPr lang="en-US" sz="4000" b="1">
                <a:effectLst/>
                <a:latin typeface="+mj-lt"/>
                <a:ea typeface="+mj-ea"/>
                <a:cs typeface="+mj-cs"/>
              </a:rPr>
              <a:t>KẾT LUẬN</a:t>
            </a:r>
          </a:p>
        </p:txBody>
      </p:sp>
      <p:sp>
        <p:nvSpPr>
          <p:cNvPr id="26" name="Rectangle 25">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349AF020-565D-F367-A676-EB50075F08BF}"/>
              </a:ext>
            </a:extLst>
          </p:cNvPr>
          <p:cNvSpPr txBox="1"/>
          <p:nvPr/>
        </p:nvSpPr>
        <p:spPr>
          <a:xfrm>
            <a:off x="838200" y="2478024"/>
            <a:ext cx="10515600" cy="3694176"/>
          </a:xfrm>
          <a:prstGeom prst="rect">
            <a:avLst/>
          </a:prstGeom>
        </p:spPr>
        <p:txBody>
          <a:bodyPr vert="horz" lIns="91440" tIns="45720" rIns="91440" bIns="45720" rtlCol="0">
            <a:normAutofit/>
          </a:bodyPr>
          <a:lstStyle/>
          <a:p>
            <a:pPr indent="-228600">
              <a:lnSpc>
                <a:spcPct val="110000"/>
              </a:lnSpc>
              <a:spcAft>
                <a:spcPts val="800"/>
              </a:spcAft>
              <a:buFont typeface="Arial" panose="020B0604020202020204" pitchFamily="34" charset="0"/>
              <a:buChar char="•"/>
              <a:tabLst>
                <a:tab pos="180340" algn="l"/>
              </a:tabLst>
            </a:pPr>
            <a:r>
              <a:rPr lang="en-US" sz="2000" dirty="0">
                <a:effectLst/>
              </a:rPr>
              <a:t>	</a:t>
            </a:r>
            <a:r>
              <a:rPr lang="en-US" sz="2000" dirty="0" err="1">
                <a:effectLst/>
              </a:rPr>
              <a:t>Từ</a:t>
            </a:r>
            <a:r>
              <a:rPr lang="en-US" sz="2000" dirty="0">
                <a:effectLst/>
              </a:rPr>
              <a:t> </a:t>
            </a:r>
            <a:r>
              <a:rPr lang="en-US" sz="2000" dirty="0" err="1">
                <a:effectLst/>
              </a:rPr>
              <a:t>kết</a:t>
            </a:r>
            <a:r>
              <a:rPr lang="en-US" sz="2000" dirty="0">
                <a:effectLst/>
              </a:rPr>
              <a:t> </a:t>
            </a:r>
            <a:r>
              <a:rPr lang="en-US" sz="2000" dirty="0" err="1">
                <a:effectLst/>
              </a:rPr>
              <a:t>quả</a:t>
            </a:r>
            <a:r>
              <a:rPr lang="en-US" sz="2000" dirty="0">
                <a:effectLst/>
              </a:rPr>
              <a:t> </a:t>
            </a:r>
            <a:r>
              <a:rPr lang="en-US" sz="2000" dirty="0" err="1">
                <a:effectLst/>
              </a:rPr>
              <a:t>phân</a:t>
            </a:r>
            <a:r>
              <a:rPr lang="en-US" sz="2000" dirty="0">
                <a:effectLst/>
              </a:rPr>
              <a:t> </a:t>
            </a:r>
            <a:r>
              <a:rPr lang="en-US" sz="2000" dirty="0" err="1">
                <a:effectLst/>
              </a:rPr>
              <a:t>tích</a:t>
            </a:r>
            <a:r>
              <a:rPr lang="en-US" sz="2000" dirty="0">
                <a:effectLst/>
              </a:rPr>
              <a:t> </a:t>
            </a:r>
            <a:r>
              <a:rPr lang="en-US" sz="2000" dirty="0" err="1">
                <a:effectLst/>
              </a:rPr>
              <a:t>dữ</a:t>
            </a:r>
            <a:r>
              <a:rPr lang="en-US" sz="2000" dirty="0">
                <a:effectLst/>
              </a:rPr>
              <a:t> </a:t>
            </a:r>
            <a:r>
              <a:rPr lang="en-US" sz="2000" dirty="0" err="1">
                <a:effectLst/>
              </a:rPr>
              <a:t>liệu</a:t>
            </a:r>
            <a:r>
              <a:rPr lang="en-US" sz="2000" dirty="0">
                <a:effectLst/>
              </a:rPr>
              <a:t> </a:t>
            </a:r>
            <a:r>
              <a:rPr lang="en-US" sz="2000" dirty="0" err="1">
                <a:effectLst/>
              </a:rPr>
              <a:t>nhiệt</a:t>
            </a:r>
            <a:r>
              <a:rPr lang="en-US" sz="2000" dirty="0">
                <a:effectLst/>
              </a:rPr>
              <a:t> </a:t>
            </a:r>
            <a:r>
              <a:rPr lang="en-US" sz="2000" dirty="0" err="1">
                <a:effectLst/>
              </a:rPr>
              <a:t>độ</a:t>
            </a:r>
            <a:r>
              <a:rPr lang="en-US" sz="2000" dirty="0">
                <a:effectLst/>
              </a:rPr>
              <a:t> </a:t>
            </a:r>
            <a:r>
              <a:rPr lang="en-US" sz="2000" dirty="0" err="1">
                <a:effectLst/>
              </a:rPr>
              <a:t>bất</a:t>
            </a:r>
            <a:r>
              <a:rPr lang="en-US" sz="2000" dirty="0">
                <a:effectLst/>
              </a:rPr>
              <a:t> </a:t>
            </a:r>
            <a:r>
              <a:rPr lang="en-US" sz="2000" dirty="0" err="1">
                <a:effectLst/>
              </a:rPr>
              <a:t>thường</a:t>
            </a:r>
            <a:r>
              <a:rPr lang="en-US" sz="2000" dirty="0">
                <a:effectLst/>
              </a:rPr>
              <a:t> </a:t>
            </a:r>
            <a:r>
              <a:rPr lang="en-US" sz="2000" dirty="0" err="1">
                <a:effectLst/>
              </a:rPr>
              <a:t>từ</a:t>
            </a:r>
            <a:r>
              <a:rPr lang="en-US" sz="2000" dirty="0">
                <a:effectLst/>
              </a:rPr>
              <a:t> </a:t>
            </a:r>
            <a:r>
              <a:rPr lang="en-US" sz="2000" dirty="0" err="1">
                <a:effectLst/>
              </a:rPr>
              <a:t>năm</a:t>
            </a:r>
            <a:r>
              <a:rPr lang="en-US" sz="2000" dirty="0">
                <a:effectLst/>
              </a:rPr>
              <a:t> 1880 </a:t>
            </a:r>
            <a:r>
              <a:rPr lang="en-US" sz="2000" dirty="0" err="1">
                <a:effectLst/>
              </a:rPr>
              <a:t>đến</a:t>
            </a:r>
            <a:r>
              <a:rPr lang="en-US" sz="2000" dirty="0">
                <a:effectLst/>
              </a:rPr>
              <a:t> 2025, </a:t>
            </a:r>
            <a:r>
              <a:rPr lang="en-US" sz="2000" dirty="0" err="1">
                <a:effectLst/>
              </a:rPr>
              <a:t>mô</a:t>
            </a:r>
            <a:r>
              <a:rPr lang="en-US" sz="2000" dirty="0">
                <a:effectLst/>
              </a:rPr>
              <a:t> </a:t>
            </a:r>
            <a:r>
              <a:rPr lang="en-US" sz="2000" dirty="0" err="1">
                <a:effectLst/>
              </a:rPr>
              <a:t>hình</a:t>
            </a:r>
            <a:r>
              <a:rPr lang="en-US" sz="2000" dirty="0">
                <a:effectLst/>
              </a:rPr>
              <a:t> </a:t>
            </a:r>
            <a:r>
              <a:rPr lang="en-US" sz="2000" dirty="0" err="1">
                <a:effectLst/>
              </a:rPr>
              <a:t>hồi</a:t>
            </a:r>
            <a:r>
              <a:rPr lang="en-US" sz="2000" dirty="0">
                <a:effectLst/>
              </a:rPr>
              <a:t> </a:t>
            </a:r>
            <a:r>
              <a:rPr lang="en-US" sz="2000" dirty="0" err="1">
                <a:effectLst/>
              </a:rPr>
              <a:t>quy</a:t>
            </a:r>
            <a:r>
              <a:rPr lang="en-US" sz="2000" dirty="0">
                <a:effectLst/>
              </a:rPr>
              <a:t> </a:t>
            </a:r>
            <a:r>
              <a:rPr lang="en-US" sz="2000" dirty="0" err="1">
                <a:effectLst/>
              </a:rPr>
              <a:t>tuyến</a:t>
            </a:r>
            <a:r>
              <a:rPr lang="en-US" sz="2000" dirty="0">
                <a:effectLst/>
              </a:rPr>
              <a:t> </a:t>
            </a:r>
            <a:r>
              <a:rPr lang="en-US" sz="2000" dirty="0" err="1">
                <a:effectLst/>
              </a:rPr>
              <a:t>tính</a:t>
            </a:r>
            <a:r>
              <a:rPr lang="en-US" sz="2000" dirty="0">
                <a:effectLst/>
              </a:rPr>
              <a:t> </a:t>
            </a:r>
            <a:r>
              <a:rPr lang="en-US" sz="2000" dirty="0" err="1">
                <a:effectLst/>
              </a:rPr>
              <a:t>dự</a:t>
            </a:r>
            <a:r>
              <a:rPr lang="en-US" sz="2000" dirty="0">
                <a:effectLst/>
              </a:rPr>
              <a:t> </a:t>
            </a:r>
            <a:r>
              <a:rPr lang="en-US" sz="2000" dirty="0" err="1">
                <a:effectLst/>
              </a:rPr>
              <a:t>đoán</a:t>
            </a:r>
            <a:r>
              <a:rPr lang="en-US" sz="2000" dirty="0">
                <a:effectLst/>
              </a:rPr>
              <a:t> </a:t>
            </a:r>
            <a:r>
              <a:rPr lang="en-US" sz="2000" dirty="0" err="1">
                <a:effectLst/>
              </a:rPr>
              <a:t>rằng</a:t>
            </a:r>
            <a:r>
              <a:rPr lang="en-US" sz="2000" dirty="0">
                <a:effectLst/>
              </a:rPr>
              <a:t> </a:t>
            </a:r>
            <a:r>
              <a:rPr lang="en-US" sz="2000" dirty="0" err="1">
                <a:effectLst/>
              </a:rPr>
              <a:t>đến</a:t>
            </a:r>
            <a:r>
              <a:rPr lang="en-US" sz="2000" dirty="0">
                <a:effectLst/>
              </a:rPr>
              <a:t> </a:t>
            </a:r>
            <a:r>
              <a:rPr lang="en-US" sz="2000" dirty="0" err="1">
                <a:effectLst/>
              </a:rPr>
              <a:t>năm</a:t>
            </a:r>
            <a:r>
              <a:rPr lang="en-US" sz="2000" dirty="0">
                <a:effectLst/>
              </a:rPr>
              <a:t> 2030, </a:t>
            </a:r>
            <a:r>
              <a:rPr lang="en-US" sz="2000" dirty="0" err="1">
                <a:effectLst/>
              </a:rPr>
              <a:t>giá</a:t>
            </a:r>
            <a:r>
              <a:rPr lang="en-US" sz="2000" dirty="0">
                <a:effectLst/>
              </a:rPr>
              <a:t> </a:t>
            </a:r>
            <a:r>
              <a:rPr lang="en-US" sz="2000" dirty="0" err="1">
                <a:effectLst/>
              </a:rPr>
              <a:t>trị</a:t>
            </a:r>
            <a:r>
              <a:rPr lang="en-US" sz="2000" dirty="0">
                <a:effectLst/>
              </a:rPr>
              <a:t> </a:t>
            </a:r>
            <a:r>
              <a:rPr lang="en-US" sz="2000" dirty="0" err="1">
                <a:effectLst/>
              </a:rPr>
              <a:t>nhiệt</a:t>
            </a:r>
            <a:r>
              <a:rPr lang="en-US" sz="2000" dirty="0">
                <a:effectLst/>
              </a:rPr>
              <a:t> </a:t>
            </a:r>
            <a:r>
              <a:rPr lang="en-US" sz="2000" dirty="0" err="1">
                <a:effectLst/>
              </a:rPr>
              <a:t>độ</a:t>
            </a:r>
            <a:r>
              <a:rPr lang="en-US" sz="2000" dirty="0">
                <a:effectLst/>
              </a:rPr>
              <a:t> </a:t>
            </a:r>
            <a:r>
              <a:rPr lang="en-US" sz="2000" dirty="0" err="1">
                <a:effectLst/>
              </a:rPr>
              <a:t>bất</a:t>
            </a:r>
            <a:r>
              <a:rPr lang="en-US" sz="2000" dirty="0">
                <a:effectLst/>
              </a:rPr>
              <a:t> </a:t>
            </a:r>
            <a:r>
              <a:rPr lang="en-US" sz="2000" dirty="0" err="1">
                <a:effectLst/>
              </a:rPr>
              <a:t>thường</a:t>
            </a:r>
            <a:r>
              <a:rPr lang="en-US" sz="2000" dirty="0">
                <a:effectLst/>
              </a:rPr>
              <a:t> </a:t>
            </a:r>
            <a:r>
              <a:rPr lang="en-US" sz="2000" dirty="0" err="1">
                <a:effectLst/>
              </a:rPr>
              <a:t>trung</a:t>
            </a:r>
            <a:r>
              <a:rPr lang="en-US" sz="2000" dirty="0">
                <a:effectLst/>
              </a:rPr>
              <a:t> </a:t>
            </a:r>
            <a:r>
              <a:rPr lang="en-US" sz="2000" dirty="0" err="1">
                <a:effectLst/>
              </a:rPr>
              <a:t>bình</a:t>
            </a:r>
            <a:r>
              <a:rPr lang="en-US" sz="2000" dirty="0">
                <a:effectLst/>
              </a:rPr>
              <a:t> </a:t>
            </a:r>
            <a:r>
              <a:rPr lang="en-US" sz="2000" dirty="0" err="1">
                <a:effectLst/>
              </a:rPr>
              <a:t>năm</a:t>
            </a:r>
            <a:r>
              <a:rPr lang="en-US" sz="2000" dirty="0">
                <a:effectLst/>
              </a:rPr>
              <a:t> </a:t>
            </a:r>
            <a:r>
              <a:rPr lang="en-US" sz="2000" dirty="0" err="1">
                <a:effectLst/>
              </a:rPr>
              <a:t>có</a:t>
            </a:r>
            <a:r>
              <a:rPr lang="en-US" sz="2000" dirty="0">
                <a:effectLst/>
              </a:rPr>
              <a:t> </a:t>
            </a:r>
            <a:r>
              <a:rPr lang="en-US" sz="2000" dirty="0" err="1">
                <a:effectLst/>
              </a:rPr>
              <a:t>thể</a:t>
            </a:r>
            <a:r>
              <a:rPr lang="en-US" sz="2000" dirty="0">
                <a:effectLst/>
              </a:rPr>
              <a:t> </a:t>
            </a:r>
            <a:r>
              <a:rPr lang="en-US" sz="2000" dirty="0" err="1">
                <a:effectLst/>
              </a:rPr>
              <a:t>đạt</a:t>
            </a:r>
            <a:r>
              <a:rPr lang="en-US" sz="2000" dirty="0">
                <a:effectLst/>
              </a:rPr>
              <a:t> </a:t>
            </a:r>
            <a:r>
              <a:rPr lang="en-US" sz="2000" dirty="0" err="1">
                <a:effectLst/>
              </a:rPr>
              <a:t>khoảng</a:t>
            </a:r>
            <a:r>
              <a:rPr lang="en-US" sz="2000" dirty="0">
                <a:effectLst/>
              </a:rPr>
              <a:t> </a:t>
            </a:r>
            <a:r>
              <a:rPr lang="en-US" sz="2000" b="1" dirty="0">
                <a:effectLst/>
              </a:rPr>
              <a:t>0,73°C</a:t>
            </a:r>
            <a:r>
              <a:rPr lang="en-US" sz="2000" dirty="0">
                <a:effectLst/>
              </a:rPr>
              <a:t>. </a:t>
            </a:r>
            <a:r>
              <a:rPr lang="en-US" sz="2000" dirty="0" err="1">
                <a:effectLst/>
              </a:rPr>
              <a:t>Đây</a:t>
            </a:r>
            <a:r>
              <a:rPr lang="en-US" sz="2000" dirty="0">
                <a:effectLst/>
              </a:rPr>
              <a:t> là </a:t>
            </a:r>
            <a:r>
              <a:rPr lang="en-US" sz="2000" dirty="0" err="1">
                <a:effectLst/>
              </a:rPr>
              <a:t>một</a:t>
            </a:r>
            <a:r>
              <a:rPr lang="en-US" sz="2000" dirty="0">
                <a:effectLst/>
              </a:rPr>
              <a:t> con </a:t>
            </a:r>
            <a:r>
              <a:rPr lang="en-US" sz="2000" dirty="0" err="1">
                <a:effectLst/>
              </a:rPr>
              <a:t>số</a:t>
            </a:r>
            <a:r>
              <a:rPr lang="en-US" sz="2000" dirty="0">
                <a:effectLst/>
              </a:rPr>
              <a:t> </a:t>
            </a:r>
            <a:r>
              <a:rPr lang="en-US" sz="2000" dirty="0" err="1">
                <a:effectLst/>
              </a:rPr>
              <a:t>có</a:t>
            </a:r>
            <a:r>
              <a:rPr lang="en-US" sz="2000" dirty="0">
                <a:effectLst/>
              </a:rPr>
              <a:t> ý </a:t>
            </a:r>
            <a:r>
              <a:rPr lang="en-US" sz="2000" dirty="0" err="1">
                <a:effectLst/>
              </a:rPr>
              <a:t>nghĩa</a:t>
            </a:r>
            <a:r>
              <a:rPr lang="en-US" sz="2000" dirty="0">
                <a:effectLst/>
              </a:rPr>
              <a:t> </a:t>
            </a:r>
            <a:r>
              <a:rPr lang="en-US" sz="2000" dirty="0" err="1">
                <a:effectLst/>
              </a:rPr>
              <a:t>thời</a:t>
            </a:r>
            <a:r>
              <a:rPr lang="en-US" sz="2000" dirty="0">
                <a:effectLst/>
              </a:rPr>
              <a:t> </a:t>
            </a:r>
            <a:r>
              <a:rPr lang="en-US" sz="2000" dirty="0" err="1">
                <a:effectLst/>
              </a:rPr>
              <a:t>sự</a:t>
            </a:r>
            <a:r>
              <a:rPr lang="en-US" sz="2000" dirty="0">
                <a:effectLst/>
              </a:rPr>
              <a:t> </a:t>
            </a:r>
            <a:r>
              <a:rPr lang="en-US" sz="2000" dirty="0" err="1">
                <a:effectLst/>
              </a:rPr>
              <a:t>cao</a:t>
            </a:r>
            <a:r>
              <a:rPr lang="en-US" sz="2000" dirty="0">
                <a:effectLst/>
              </a:rPr>
              <a:t> </a:t>
            </a:r>
            <a:r>
              <a:rPr lang="en-US" sz="2000" dirty="0" err="1">
                <a:effectLst/>
              </a:rPr>
              <a:t>vì</a:t>
            </a:r>
            <a:r>
              <a:rPr lang="en-US" sz="2000" dirty="0">
                <a:effectLst/>
              </a:rPr>
              <a:t> </a:t>
            </a:r>
            <a:r>
              <a:rPr lang="en-US" sz="2000" dirty="0" err="1">
                <a:effectLst/>
              </a:rPr>
              <a:t>nó</a:t>
            </a:r>
            <a:r>
              <a:rPr lang="en-US" sz="2000" dirty="0">
                <a:effectLst/>
              </a:rPr>
              <a:t> </a:t>
            </a:r>
            <a:r>
              <a:rPr lang="en-US" sz="2000" dirty="0" err="1">
                <a:effectLst/>
              </a:rPr>
              <a:t>cho</a:t>
            </a:r>
            <a:r>
              <a:rPr lang="en-US" sz="2000" dirty="0">
                <a:effectLst/>
              </a:rPr>
              <a:t> </a:t>
            </a:r>
            <a:r>
              <a:rPr lang="en-US" sz="2000" dirty="0" err="1">
                <a:effectLst/>
              </a:rPr>
              <a:t>thấy</a:t>
            </a:r>
            <a:r>
              <a:rPr lang="en-US" sz="2000" dirty="0">
                <a:effectLst/>
              </a:rPr>
              <a:t> xu </a:t>
            </a:r>
            <a:r>
              <a:rPr lang="en-US" sz="2000" dirty="0" err="1">
                <a:effectLst/>
              </a:rPr>
              <a:t>hướng</a:t>
            </a:r>
            <a:r>
              <a:rPr lang="en-US" sz="2000" dirty="0">
                <a:effectLst/>
              </a:rPr>
              <a:t> </a:t>
            </a:r>
            <a:r>
              <a:rPr lang="en-US" sz="2000" dirty="0" err="1">
                <a:effectLst/>
              </a:rPr>
              <a:t>nóng</a:t>
            </a:r>
            <a:r>
              <a:rPr lang="en-US" sz="2000" dirty="0">
                <a:effectLst/>
              </a:rPr>
              <a:t> lên </a:t>
            </a:r>
            <a:r>
              <a:rPr lang="en-US" sz="2000" dirty="0" err="1">
                <a:effectLst/>
              </a:rPr>
              <a:t>toàn</a:t>
            </a:r>
            <a:r>
              <a:rPr lang="en-US" sz="2000" dirty="0">
                <a:effectLst/>
              </a:rPr>
              <a:t> </a:t>
            </a:r>
            <a:r>
              <a:rPr lang="en-US" sz="2000" dirty="0" err="1">
                <a:effectLst/>
              </a:rPr>
              <a:t>cầu</a:t>
            </a:r>
            <a:r>
              <a:rPr lang="en-US" sz="2000" dirty="0">
                <a:effectLst/>
              </a:rPr>
              <a:t> </a:t>
            </a:r>
            <a:r>
              <a:rPr lang="en-US" sz="2000" dirty="0" err="1">
                <a:effectLst/>
              </a:rPr>
              <a:t>vẫn</a:t>
            </a:r>
            <a:r>
              <a:rPr lang="en-US" sz="2000" dirty="0">
                <a:effectLst/>
              </a:rPr>
              <a:t> </a:t>
            </a:r>
            <a:r>
              <a:rPr lang="en-US" sz="2000" dirty="0" err="1">
                <a:effectLst/>
              </a:rPr>
              <a:t>tiếp</a:t>
            </a:r>
            <a:r>
              <a:rPr lang="en-US" sz="2000" dirty="0">
                <a:effectLst/>
              </a:rPr>
              <a:t> </a:t>
            </a:r>
            <a:r>
              <a:rPr lang="en-US" sz="2000" dirty="0" err="1">
                <a:effectLst/>
              </a:rPr>
              <a:t>tục</a:t>
            </a:r>
            <a:r>
              <a:rPr lang="en-US" sz="2000" dirty="0">
                <a:effectLst/>
              </a:rPr>
              <a:t>, </a:t>
            </a:r>
            <a:r>
              <a:rPr lang="en-US" sz="2000" dirty="0" err="1">
                <a:effectLst/>
              </a:rPr>
              <a:t>thay</a:t>
            </a:r>
            <a:r>
              <a:rPr lang="en-US" sz="2000" dirty="0">
                <a:effectLst/>
              </a:rPr>
              <a:t> </a:t>
            </a:r>
            <a:r>
              <a:rPr lang="en-US" sz="2000" dirty="0" err="1">
                <a:effectLst/>
              </a:rPr>
              <a:t>vì</a:t>
            </a:r>
            <a:r>
              <a:rPr lang="en-US" sz="2000" dirty="0">
                <a:effectLst/>
              </a:rPr>
              <a:t> </a:t>
            </a:r>
            <a:r>
              <a:rPr lang="en-US" sz="2000" dirty="0" err="1">
                <a:effectLst/>
              </a:rPr>
              <a:t>dừng</a:t>
            </a:r>
            <a:r>
              <a:rPr lang="en-US" sz="2000" dirty="0">
                <a:effectLst/>
              </a:rPr>
              <a:t> </a:t>
            </a:r>
            <a:r>
              <a:rPr lang="en-US" sz="2000" dirty="0" err="1">
                <a:effectLst/>
              </a:rPr>
              <a:t>lại</a:t>
            </a:r>
            <a:r>
              <a:rPr lang="en-US" sz="2000" dirty="0">
                <a:effectLst/>
              </a:rPr>
              <a:t> ở </a:t>
            </a:r>
            <a:r>
              <a:rPr lang="en-US" sz="2000" dirty="0" err="1">
                <a:effectLst/>
              </a:rPr>
              <a:t>mức</a:t>
            </a:r>
            <a:r>
              <a:rPr lang="en-US" sz="2000" dirty="0">
                <a:effectLst/>
              </a:rPr>
              <a:t> </a:t>
            </a:r>
            <a:r>
              <a:rPr lang="en-US" sz="2000" dirty="0" err="1">
                <a:effectLst/>
              </a:rPr>
              <a:t>lịch</a:t>
            </a:r>
            <a:r>
              <a:rPr lang="en-US" sz="2000" dirty="0">
                <a:effectLst/>
              </a:rPr>
              <a:t> </a:t>
            </a:r>
            <a:r>
              <a:rPr lang="en-US" sz="2000" dirty="0" err="1">
                <a:effectLst/>
              </a:rPr>
              <a:t>sử</a:t>
            </a:r>
            <a:r>
              <a:rPr lang="en-US" sz="2000" dirty="0">
                <a:effectLst/>
              </a:rPr>
              <a:t>. </a:t>
            </a:r>
            <a:r>
              <a:rPr lang="en-US" sz="2000" dirty="0" err="1">
                <a:effectLst/>
              </a:rPr>
              <a:t>Cũng</a:t>
            </a:r>
            <a:r>
              <a:rPr lang="en-US" sz="2000" dirty="0">
                <a:effectLst/>
              </a:rPr>
              <a:t> </a:t>
            </a:r>
            <a:r>
              <a:rPr lang="en-US" sz="2000" dirty="0" err="1">
                <a:effectLst/>
              </a:rPr>
              <a:t>như</a:t>
            </a:r>
            <a:r>
              <a:rPr lang="en-US" sz="2000" dirty="0">
                <a:effectLst/>
              </a:rPr>
              <a:t> </a:t>
            </a:r>
            <a:r>
              <a:rPr lang="en-US" sz="2000" dirty="0" err="1">
                <a:effectLst/>
              </a:rPr>
              <a:t>việc</a:t>
            </a:r>
            <a:r>
              <a:rPr lang="en-US" sz="2000" dirty="0">
                <a:effectLst/>
              </a:rPr>
              <a:t> </a:t>
            </a:r>
            <a:r>
              <a:rPr lang="en-US" sz="2000" dirty="0" err="1">
                <a:effectLst/>
              </a:rPr>
              <a:t>xuất</a:t>
            </a:r>
            <a:r>
              <a:rPr lang="en-US" sz="2000" dirty="0">
                <a:effectLst/>
              </a:rPr>
              <a:t> </a:t>
            </a:r>
            <a:r>
              <a:rPr lang="en-US" sz="2000" dirty="0" err="1">
                <a:effectLst/>
              </a:rPr>
              <a:t>hiện</a:t>
            </a:r>
            <a:r>
              <a:rPr lang="en-US" sz="2000" dirty="0">
                <a:effectLst/>
              </a:rPr>
              <a:t> </a:t>
            </a:r>
            <a:r>
              <a:rPr lang="en-US" sz="2000" dirty="0" err="1">
                <a:effectLst/>
              </a:rPr>
              <a:t>thường</a:t>
            </a:r>
            <a:r>
              <a:rPr lang="en-US" sz="2000" dirty="0">
                <a:effectLst/>
              </a:rPr>
              <a:t> </a:t>
            </a:r>
            <a:r>
              <a:rPr lang="en-US" sz="2000" dirty="0" err="1">
                <a:effectLst/>
              </a:rPr>
              <a:t>xuyên</a:t>
            </a:r>
            <a:r>
              <a:rPr lang="en-US" sz="2000" dirty="0">
                <a:effectLst/>
              </a:rPr>
              <a:t> </a:t>
            </a:r>
            <a:r>
              <a:rPr lang="en-US" sz="2000" dirty="0" err="1">
                <a:effectLst/>
              </a:rPr>
              <a:t>hơn</a:t>
            </a:r>
            <a:r>
              <a:rPr lang="en-US" sz="2000" dirty="0">
                <a:effectLst/>
              </a:rPr>
              <a:t> </a:t>
            </a:r>
            <a:r>
              <a:rPr lang="en-US" sz="2000" dirty="0" err="1">
                <a:effectLst/>
              </a:rPr>
              <a:t>của</a:t>
            </a:r>
            <a:r>
              <a:rPr lang="en-US" sz="2000" dirty="0">
                <a:effectLst/>
              </a:rPr>
              <a:t> El Niño </a:t>
            </a:r>
            <a:r>
              <a:rPr lang="en-US" sz="2000" dirty="0" err="1">
                <a:effectLst/>
              </a:rPr>
              <a:t>càng</a:t>
            </a:r>
            <a:r>
              <a:rPr lang="en-US" sz="2000" dirty="0">
                <a:effectLst/>
              </a:rPr>
              <a:t> </a:t>
            </a:r>
            <a:r>
              <a:rPr lang="en-US" sz="2000" dirty="0" err="1">
                <a:effectLst/>
              </a:rPr>
              <a:t>ngày</a:t>
            </a:r>
            <a:r>
              <a:rPr lang="en-US" sz="2000" dirty="0">
                <a:effectLst/>
              </a:rPr>
              <a:t> </a:t>
            </a:r>
            <a:r>
              <a:rPr lang="en-US" sz="2000" dirty="0" err="1">
                <a:effectLst/>
              </a:rPr>
              <a:t>càng</a:t>
            </a:r>
            <a:r>
              <a:rPr lang="en-US" sz="2000" dirty="0">
                <a:effectLst/>
              </a:rPr>
              <a:t> </a:t>
            </a:r>
            <a:r>
              <a:rPr lang="en-US" sz="2000" dirty="0" err="1">
                <a:effectLst/>
              </a:rPr>
              <a:t>nhiều</a:t>
            </a:r>
            <a:r>
              <a:rPr lang="en-US" sz="2000" dirty="0">
                <a:effectLst/>
              </a:rPr>
              <a:t> </a:t>
            </a:r>
            <a:r>
              <a:rPr lang="en-US" sz="2000" dirty="0" err="1">
                <a:effectLst/>
              </a:rPr>
              <a:t>và</a:t>
            </a:r>
            <a:r>
              <a:rPr lang="en-US" sz="2000" dirty="0">
                <a:effectLst/>
              </a:rPr>
              <a:t> </a:t>
            </a:r>
            <a:r>
              <a:rPr lang="en-US" sz="2000" dirty="0" err="1">
                <a:effectLst/>
              </a:rPr>
              <a:t>mạnh</a:t>
            </a:r>
            <a:r>
              <a:rPr lang="en-US" sz="2000" dirty="0">
                <a:effectLst/>
              </a:rPr>
              <a:t> </a:t>
            </a:r>
            <a:r>
              <a:rPr lang="en-US" sz="2000" dirty="0" err="1">
                <a:effectLst/>
              </a:rPr>
              <a:t>hơn</a:t>
            </a:r>
            <a:r>
              <a:rPr lang="en-US" sz="2000" dirty="0">
                <a:effectLst/>
              </a:rPr>
              <a:t>.</a:t>
            </a:r>
          </a:p>
          <a:p>
            <a:pPr indent="-228600">
              <a:lnSpc>
                <a:spcPct val="110000"/>
              </a:lnSpc>
              <a:spcAft>
                <a:spcPts val="800"/>
              </a:spcAft>
              <a:buFont typeface="Arial" panose="020B0604020202020204" pitchFamily="34" charset="0"/>
              <a:buChar char="•"/>
              <a:tabLst>
                <a:tab pos="180340" algn="l"/>
              </a:tabLst>
            </a:pPr>
            <a:r>
              <a:rPr lang="en-US" sz="2000" dirty="0">
                <a:effectLst/>
              </a:rPr>
              <a:t>	</a:t>
            </a:r>
            <a:r>
              <a:rPr lang="en-US" sz="2000" dirty="0" err="1">
                <a:effectLst/>
              </a:rPr>
              <a:t>Kết</a:t>
            </a:r>
            <a:r>
              <a:rPr lang="en-US" sz="2000" dirty="0">
                <a:effectLst/>
              </a:rPr>
              <a:t> </a:t>
            </a:r>
            <a:r>
              <a:rPr lang="en-US" sz="2000" dirty="0" err="1">
                <a:effectLst/>
              </a:rPr>
              <a:t>hợp</a:t>
            </a:r>
            <a:r>
              <a:rPr lang="en-US" sz="2000" dirty="0">
                <a:effectLst/>
              </a:rPr>
              <a:t> </a:t>
            </a:r>
            <a:r>
              <a:rPr lang="en-US" sz="2000" dirty="0" err="1">
                <a:effectLst/>
              </a:rPr>
              <a:t>với</a:t>
            </a:r>
            <a:r>
              <a:rPr lang="en-US" sz="2000" dirty="0">
                <a:effectLst/>
              </a:rPr>
              <a:t> </a:t>
            </a:r>
            <a:r>
              <a:rPr lang="en-US" sz="2000" dirty="0" err="1">
                <a:effectLst/>
              </a:rPr>
              <a:t>kết</a:t>
            </a:r>
            <a:r>
              <a:rPr lang="en-US" sz="2000" dirty="0">
                <a:effectLst/>
              </a:rPr>
              <a:t> </a:t>
            </a:r>
            <a:r>
              <a:rPr lang="en-US" sz="2000" dirty="0" err="1">
                <a:effectLst/>
              </a:rPr>
              <a:t>quả</a:t>
            </a:r>
            <a:r>
              <a:rPr lang="en-US" sz="2000" dirty="0">
                <a:effectLst/>
              </a:rPr>
              <a:t> </a:t>
            </a:r>
            <a:r>
              <a:rPr lang="en-US" sz="2000" dirty="0" err="1">
                <a:effectLst/>
              </a:rPr>
              <a:t>phân</a:t>
            </a:r>
            <a:r>
              <a:rPr lang="en-US" sz="2000" dirty="0">
                <a:effectLst/>
              </a:rPr>
              <a:t> </a:t>
            </a:r>
            <a:r>
              <a:rPr lang="en-US" sz="2000" dirty="0" err="1">
                <a:effectLst/>
              </a:rPr>
              <a:t>cụm</a:t>
            </a:r>
            <a:r>
              <a:rPr lang="en-US" sz="2000" dirty="0">
                <a:effectLst/>
              </a:rPr>
              <a:t> </a:t>
            </a:r>
            <a:r>
              <a:rPr lang="en-US" sz="2000" dirty="0" err="1">
                <a:effectLst/>
              </a:rPr>
              <a:t>theo</a:t>
            </a:r>
            <a:r>
              <a:rPr lang="en-US" sz="2000" dirty="0">
                <a:effectLst/>
              </a:rPr>
              <a:t> </a:t>
            </a:r>
            <a:r>
              <a:rPr lang="en-US" sz="2000" dirty="0" err="1">
                <a:effectLst/>
              </a:rPr>
              <a:t>thập</a:t>
            </a:r>
            <a:r>
              <a:rPr lang="en-US" sz="2000" dirty="0">
                <a:effectLst/>
              </a:rPr>
              <a:t> </a:t>
            </a:r>
            <a:r>
              <a:rPr lang="en-US" sz="2000" dirty="0" err="1">
                <a:effectLst/>
              </a:rPr>
              <a:t>kỷ</a:t>
            </a:r>
            <a:r>
              <a:rPr lang="en-US" sz="2000" dirty="0">
                <a:effectLst/>
              </a:rPr>
              <a:t> </a:t>
            </a:r>
            <a:r>
              <a:rPr lang="en-US" sz="2000" dirty="0" err="1">
                <a:effectLst/>
              </a:rPr>
              <a:t>và</a:t>
            </a:r>
            <a:r>
              <a:rPr lang="en-US" sz="2000" dirty="0">
                <a:effectLst/>
              </a:rPr>
              <a:t> </a:t>
            </a:r>
            <a:r>
              <a:rPr lang="en-US" sz="2000" dirty="0" err="1">
                <a:effectLst/>
              </a:rPr>
              <a:t>phân</a:t>
            </a:r>
            <a:r>
              <a:rPr lang="en-US" sz="2000" dirty="0">
                <a:effectLst/>
              </a:rPr>
              <a:t> </a:t>
            </a:r>
            <a:r>
              <a:rPr lang="en-US" sz="2000" dirty="0" err="1">
                <a:effectLst/>
              </a:rPr>
              <a:t>lớp</a:t>
            </a:r>
            <a:r>
              <a:rPr lang="en-US" sz="2000" dirty="0">
                <a:effectLst/>
              </a:rPr>
              <a:t> </a:t>
            </a:r>
            <a:r>
              <a:rPr lang="en-US" sz="2000" dirty="0" err="1">
                <a:effectLst/>
              </a:rPr>
              <a:t>theo</a:t>
            </a:r>
            <a:r>
              <a:rPr lang="en-US" sz="2000" dirty="0">
                <a:effectLst/>
              </a:rPr>
              <a:t> </a:t>
            </a:r>
            <a:r>
              <a:rPr lang="en-US" sz="2000" dirty="0" err="1">
                <a:effectLst/>
              </a:rPr>
              <a:t>ngưỡng</a:t>
            </a:r>
            <a:r>
              <a:rPr lang="en-US" sz="2000" dirty="0">
                <a:effectLst/>
              </a:rPr>
              <a:t> 0°C, </a:t>
            </a:r>
            <a:r>
              <a:rPr lang="en-US" sz="2000" dirty="0" err="1">
                <a:effectLst/>
              </a:rPr>
              <a:t>có</a:t>
            </a:r>
            <a:r>
              <a:rPr lang="en-US" sz="2000" dirty="0">
                <a:effectLst/>
              </a:rPr>
              <a:t> </a:t>
            </a:r>
            <a:r>
              <a:rPr lang="en-US" sz="2000" dirty="0" err="1">
                <a:effectLst/>
              </a:rPr>
              <a:t>thể</a:t>
            </a:r>
            <a:r>
              <a:rPr lang="en-US" sz="2000" dirty="0">
                <a:effectLst/>
              </a:rPr>
              <a:t> </a:t>
            </a:r>
            <a:r>
              <a:rPr lang="en-US" sz="2000" dirty="0" err="1">
                <a:effectLst/>
              </a:rPr>
              <a:t>khẳng</a:t>
            </a:r>
            <a:r>
              <a:rPr lang="en-US" sz="2000" dirty="0">
                <a:effectLst/>
              </a:rPr>
              <a:t> </a:t>
            </a:r>
            <a:r>
              <a:rPr lang="en-US" sz="2000" dirty="0" err="1">
                <a:effectLst/>
              </a:rPr>
              <a:t>định</a:t>
            </a:r>
            <a:r>
              <a:rPr lang="en-US" sz="2000" dirty="0">
                <a:effectLst/>
              </a:rPr>
              <a:t> </a:t>
            </a:r>
            <a:r>
              <a:rPr lang="en-US" sz="2000" dirty="0" err="1">
                <a:effectLst/>
              </a:rPr>
              <a:t>rằng</a:t>
            </a:r>
            <a:r>
              <a:rPr lang="en-US" sz="2000" dirty="0">
                <a:effectLst/>
              </a:rPr>
              <a:t> </a:t>
            </a:r>
            <a:r>
              <a:rPr lang="en-US" sz="2000" dirty="0" err="1">
                <a:effectLst/>
              </a:rPr>
              <a:t>các</a:t>
            </a:r>
            <a:r>
              <a:rPr lang="en-US" sz="2000" dirty="0">
                <a:effectLst/>
              </a:rPr>
              <a:t> </a:t>
            </a:r>
            <a:r>
              <a:rPr lang="en-US" sz="2000" dirty="0" err="1">
                <a:effectLst/>
              </a:rPr>
              <a:t>giai</a:t>
            </a:r>
            <a:r>
              <a:rPr lang="en-US" sz="2000" dirty="0">
                <a:effectLst/>
              </a:rPr>
              <a:t> </a:t>
            </a:r>
            <a:r>
              <a:rPr lang="en-US" sz="2000" dirty="0" err="1">
                <a:effectLst/>
              </a:rPr>
              <a:t>đoạn</a:t>
            </a:r>
            <a:r>
              <a:rPr lang="en-US" sz="2000" dirty="0">
                <a:effectLst/>
              </a:rPr>
              <a:t> </a:t>
            </a:r>
            <a:r>
              <a:rPr lang="en-US" sz="2000" dirty="0" err="1">
                <a:effectLst/>
              </a:rPr>
              <a:t>gần</a:t>
            </a:r>
            <a:r>
              <a:rPr lang="en-US" sz="2000" dirty="0">
                <a:effectLst/>
              </a:rPr>
              <a:t> </a:t>
            </a:r>
            <a:r>
              <a:rPr lang="en-US" sz="2000" dirty="0" err="1">
                <a:effectLst/>
              </a:rPr>
              <a:t>đây</a:t>
            </a:r>
            <a:r>
              <a:rPr lang="en-US" sz="2000" dirty="0">
                <a:effectLst/>
              </a:rPr>
              <a:t> </a:t>
            </a:r>
            <a:r>
              <a:rPr lang="en-US" sz="2000" dirty="0" err="1">
                <a:effectLst/>
              </a:rPr>
              <a:t>đang</a:t>
            </a:r>
            <a:r>
              <a:rPr lang="en-US" sz="2000" dirty="0">
                <a:effectLst/>
              </a:rPr>
              <a:t> </a:t>
            </a:r>
            <a:r>
              <a:rPr lang="en-US" sz="2000" dirty="0" err="1">
                <a:effectLst/>
              </a:rPr>
              <a:t>nằm</a:t>
            </a:r>
            <a:r>
              <a:rPr lang="en-US" sz="2000" dirty="0">
                <a:effectLst/>
              </a:rPr>
              <a:t> </a:t>
            </a:r>
            <a:r>
              <a:rPr lang="en-US" sz="2000" dirty="0" err="1">
                <a:effectLst/>
              </a:rPr>
              <a:t>trong</a:t>
            </a:r>
            <a:r>
              <a:rPr lang="en-US" sz="2000" dirty="0">
                <a:effectLst/>
              </a:rPr>
              <a:t> </a:t>
            </a:r>
            <a:r>
              <a:rPr lang="en-US" sz="2000" dirty="0" err="1">
                <a:effectLst/>
              </a:rPr>
              <a:t>nhóm</a:t>
            </a:r>
            <a:r>
              <a:rPr lang="en-US" sz="2000" dirty="0">
                <a:effectLst/>
              </a:rPr>
              <a:t> </a:t>
            </a:r>
            <a:r>
              <a:rPr lang="en-US" sz="2000" dirty="0" err="1">
                <a:effectLst/>
              </a:rPr>
              <a:t>nóng</a:t>
            </a:r>
            <a:r>
              <a:rPr lang="en-US" sz="2000" dirty="0">
                <a:effectLst/>
              </a:rPr>
              <a:t> </a:t>
            </a:r>
            <a:r>
              <a:rPr lang="en-US" sz="2000" dirty="0" err="1">
                <a:effectLst/>
              </a:rPr>
              <a:t>hơn</a:t>
            </a:r>
            <a:r>
              <a:rPr lang="en-US" sz="2000" dirty="0">
                <a:effectLst/>
              </a:rPr>
              <a:t>, </a:t>
            </a:r>
            <a:r>
              <a:rPr lang="en-US" sz="2000" dirty="0" err="1">
                <a:effectLst/>
              </a:rPr>
              <a:t>và</a:t>
            </a:r>
            <a:r>
              <a:rPr lang="en-US" sz="2000" dirty="0">
                <a:effectLst/>
              </a:rPr>
              <a:t> </a:t>
            </a:r>
            <a:r>
              <a:rPr lang="en-US" sz="2000" dirty="0" err="1">
                <a:effectLst/>
              </a:rPr>
              <a:t>năm</a:t>
            </a:r>
            <a:r>
              <a:rPr lang="en-US" sz="2000" dirty="0">
                <a:effectLst/>
              </a:rPr>
              <a:t> 2030 </a:t>
            </a:r>
            <a:r>
              <a:rPr lang="en-US" sz="2000" dirty="0" err="1">
                <a:effectLst/>
              </a:rPr>
              <a:t>có</a:t>
            </a:r>
            <a:r>
              <a:rPr lang="en-US" sz="2000" dirty="0">
                <a:effectLst/>
              </a:rPr>
              <a:t> </a:t>
            </a:r>
            <a:r>
              <a:rPr lang="en-US" sz="2000" dirty="0" err="1">
                <a:effectLst/>
              </a:rPr>
              <a:t>khả</a:t>
            </a:r>
            <a:r>
              <a:rPr lang="en-US" sz="2000" dirty="0">
                <a:effectLst/>
              </a:rPr>
              <a:t> </a:t>
            </a:r>
            <a:r>
              <a:rPr lang="en-US" sz="2000" dirty="0" err="1">
                <a:effectLst/>
              </a:rPr>
              <a:t>năng</a:t>
            </a:r>
            <a:r>
              <a:rPr lang="en-US" sz="2000" dirty="0">
                <a:effectLst/>
              </a:rPr>
              <a:t> </a:t>
            </a:r>
            <a:r>
              <a:rPr lang="en-US" sz="2000" dirty="0" err="1">
                <a:effectLst/>
              </a:rPr>
              <a:t>vẫn</a:t>
            </a:r>
            <a:r>
              <a:rPr lang="en-US" sz="2000" dirty="0">
                <a:effectLst/>
              </a:rPr>
              <a:t> </a:t>
            </a:r>
            <a:r>
              <a:rPr lang="en-US" sz="2000" dirty="0" err="1">
                <a:effectLst/>
              </a:rPr>
              <a:t>duy</a:t>
            </a:r>
            <a:r>
              <a:rPr lang="en-US" sz="2000" dirty="0">
                <a:effectLst/>
              </a:rPr>
              <a:t> </a:t>
            </a:r>
            <a:r>
              <a:rPr lang="en-US" sz="2000" dirty="0" err="1">
                <a:effectLst/>
              </a:rPr>
              <a:t>trì</a:t>
            </a:r>
            <a:r>
              <a:rPr lang="en-US" sz="2000" dirty="0">
                <a:effectLst/>
              </a:rPr>
              <a:t> </a:t>
            </a:r>
            <a:r>
              <a:rPr lang="en-US" sz="2000" dirty="0" err="1">
                <a:effectLst/>
              </a:rPr>
              <a:t>mức</a:t>
            </a:r>
            <a:r>
              <a:rPr lang="en-US" sz="2000" dirty="0">
                <a:effectLst/>
              </a:rPr>
              <a:t> </a:t>
            </a:r>
            <a:r>
              <a:rPr lang="en-US" sz="2000" dirty="0" err="1">
                <a:effectLst/>
              </a:rPr>
              <a:t>nhiệt</a:t>
            </a:r>
            <a:r>
              <a:rPr lang="en-US" sz="2000" dirty="0">
                <a:effectLst/>
              </a:rPr>
              <a:t> </a:t>
            </a:r>
            <a:r>
              <a:rPr lang="en-US" sz="2000" dirty="0" err="1">
                <a:effectLst/>
              </a:rPr>
              <a:t>độ</a:t>
            </a:r>
            <a:r>
              <a:rPr lang="en-US" sz="2000" dirty="0">
                <a:effectLst/>
              </a:rPr>
              <a:t> </a:t>
            </a:r>
            <a:r>
              <a:rPr lang="en-US" sz="2000" dirty="0" err="1">
                <a:effectLst/>
              </a:rPr>
              <a:t>bất</a:t>
            </a:r>
            <a:r>
              <a:rPr lang="en-US" sz="2000" dirty="0">
                <a:effectLst/>
              </a:rPr>
              <a:t> </a:t>
            </a:r>
            <a:r>
              <a:rPr lang="en-US" sz="2000" dirty="0" err="1">
                <a:effectLst/>
              </a:rPr>
              <a:t>thường</a:t>
            </a:r>
            <a:r>
              <a:rPr lang="en-US" sz="2000" dirty="0">
                <a:effectLst/>
              </a:rPr>
              <a:t> </a:t>
            </a:r>
            <a:r>
              <a:rPr lang="en-US" sz="2000" dirty="0" err="1">
                <a:effectLst/>
              </a:rPr>
              <a:t>dương</a:t>
            </a:r>
            <a:r>
              <a:rPr lang="en-US" sz="2000" dirty="0">
                <a:effectLst/>
              </a:rPr>
              <a:t>, </a:t>
            </a:r>
            <a:r>
              <a:rPr lang="en-US" sz="2000" dirty="0" err="1">
                <a:effectLst/>
              </a:rPr>
              <a:t>tức</a:t>
            </a:r>
            <a:r>
              <a:rPr lang="en-US" sz="2000" dirty="0">
                <a:effectLst/>
              </a:rPr>
              <a:t> là </a:t>
            </a:r>
            <a:r>
              <a:rPr lang="en-US" sz="2000" dirty="0" err="1">
                <a:effectLst/>
              </a:rPr>
              <a:t>khí</a:t>
            </a:r>
            <a:r>
              <a:rPr lang="en-US" sz="2000" dirty="0">
                <a:effectLst/>
              </a:rPr>
              <a:t> </a:t>
            </a:r>
            <a:r>
              <a:rPr lang="en-US" sz="2000" dirty="0" err="1">
                <a:effectLst/>
              </a:rPr>
              <a:t>hậu</a:t>
            </a:r>
            <a:r>
              <a:rPr lang="en-US" sz="2000" dirty="0">
                <a:effectLst/>
              </a:rPr>
              <a:t> </a:t>
            </a:r>
            <a:r>
              <a:rPr lang="en-US" sz="2000" dirty="0" err="1">
                <a:effectLst/>
              </a:rPr>
              <a:t>tiếp</a:t>
            </a:r>
            <a:r>
              <a:rPr lang="en-US" sz="2000" dirty="0">
                <a:effectLst/>
              </a:rPr>
              <a:t> </a:t>
            </a:r>
            <a:r>
              <a:rPr lang="en-US" sz="2000" dirty="0" err="1">
                <a:effectLst/>
              </a:rPr>
              <a:t>tục</a:t>
            </a:r>
            <a:r>
              <a:rPr lang="en-US" sz="2000" dirty="0">
                <a:effectLst/>
              </a:rPr>
              <a:t> ở </a:t>
            </a:r>
            <a:r>
              <a:rPr lang="en-US" sz="2000" dirty="0" err="1">
                <a:effectLst/>
              </a:rPr>
              <a:t>trạng</a:t>
            </a:r>
            <a:r>
              <a:rPr lang="en-US" sz="2000" dirty="0">
                <a:effectLst/>
              </a:rPr>
              <a:t> </a:t>
            </a:r>
            <a:r>
              <a:rPr lang="en-US" sz="2000" dirty="0" err="1">
                <a:effectLst/>
              </a:rPr>
              <a:t>thái</a:t>
            </a:r>
            <a:r>
              <a:rPr lang="en-US" sz="2000" dirty="0">
                <a:effectLst/>
              </a:rPr>
              <a:t> </a:t>
            </a:r>
            <a:r>
              <a:rPr lang="en-US" sz="2000" dirty="0" err="1">
                <a:effectLst/>
              </a:rPr>
              <a:t>nóng</a:t>
            </a:r>
            <a:r>
              <a:rPr lang="en-US" sz="2000" dirty="0">
                <a:effectLst/>
              </a:rPr>
              <a:t> </a:t>
            </a:r>
            <a:r>
              <a:rPr lang="en-US" sz="2000" dirty="0" err="1">
                <a:effectLst/>
              </a:rPr>
              <a:t>hơn</a:t>
            </a:r>
            <a:r>
              <a:rPr lang="en-US" sz="2000" dirty="0">
                <a:effectLst/>
              </a:rPr>
              <a:t> so </a:t>
            </a:r>
            <a:r>
              <a:rPr lang="en-US" sz="2000" dirty="0" err="1">
                <a:effectLst/>
              </a:rPr>
              <a:t>với</a:t>
            </a:r>
            <a:r>
              <a:rPr lang="en-US" sz="2000" dirty="0">
                <a:effectLst/>
              </a:rPr>
              <a:t> </a:t>
            </a:r>
            <a:r>
              <a:rPr lang="en-US" sz="2000" dirty="0" err="1">
                <a:effectLst/>
              </a:rPr>
              <a:t>chuẩn</a:t>
            </a:r>
            <a:r>
              <a:rPr lang="en-US" sz="2000" dirty="0">
                <a:effectLst/>
              </a:rPr>
              <a:t> </a:t>
            </a:r>
            <a:r>
              <a:rPr lang="en-US" sz="2000" dirty="0" err="1">
                <a:effectLst/>
              </a:rPr>
              <a:t>lịch</a:t>
            </a:r>
            <a:r>
              <a:rPr lang="en-US" sz="2000" dirty="0">
                <a:effectLst/>
              </a:rPr>
              <a:t> </a:t>
            </a:r>
            <a:r>
              <a:rPr lang="en-US" sz="2000" dirty="0" err="1">
                <a:effectLst/>
              </a:rPr>
              <a:t>sử</a:t>
            </a:r>
            <a:r>
              <a:rPr lang="en-US" sz="2000" dirty="0">
                <a:effectLst/>
              </a:rPr>
              <a:t> </a:t>
            </a:r>
            <a:r>
              <a:rPr lang="en-US" sz="2000" dirty="0" err="1">
                <a:effectLst/>
              </a:rPr>
              <a:t>đi</a:t>
            </a:r>
            <a:r>
              <a:rPr lang="en-US" sz="2000" dirty="0">
                <a:effectLst/>
              </a:rPr>
              <a:t> </a:t>
            </a:r>
            <a:r>
              <a:rPr lang="en-US" sz="2000" dirty="0" err="1">
                <a:effectLst/>
              </a:rPr>
              <a:t>theo</a:t>
            </a:r>
            <a:r>
              <a:rPr lang="en-US" sz="2000" dirty="0">
                <a:effectLst/>
              </a:rPr>
              <a:t> </a:t>
            </a:r>
            <a:r>
              <a:rPr lang="en-US" sz="2000" dirty="0" err="1">
                <a:effectLst/>
              </a:rPr>
              <a:t>đó</a:t>
            </a:r>
            <a:r>
              <a:rPr lang="en-US" sz="2000" dirty="0">
                <a:effectLst/>
              </a:rPr>
              <a:t> là </a:t>
            </a:r>
            <a:r>
              <a:rPr lang="en-US" sz="2000" dirty="0" err="1">
                <a:effectLst/>
              </a:rPr>
              <a:t>gia</a:t>
            </a:r>
            <a:r>
              <a:rPr lang="en-US" sz="2000" dirty="0">
                <a:effectLst/>
              </a:rPr>
              <a:t> </a:t>
            </a:r>
            <a:r>
              <a:rPr lang="en-US" sz="2000">
                <a:effectLst/>
              </a:rPr>
              <a:t>t</a:t>
            </a:r>
            <a:r>
              <a:rPr lang="en-US" sz="2000"/>
              <a:t>ă</a:t>
            </a:r>
            <a:r>
              <a:rPr lang="en-US" sz="2000">
                <a:effectLst/>
              </a:rPr>
              <a:t>ng</a:t>
            </a:r>
            <a:r>
              <a:rPr lang="en-US" sz="2000" dirty="0">
                <a:effectLst/>
              </a:rPr>
              <a:t> </a:t>
            </a:r>
            <a:r>
              <a:rPr lang="en-US" sz="2000" dirty="0" err="1">
                <a:effectLst/>
              </a:rPr>
              <a:t>th</a:t>
            </a:r>
            <a:r>
              <a:rPr lang="en-US" sz="2000" dirty="0" err="1"/>
              <a:t>ê</a:t>
            </a:r>
            <a:r>
              <a:rPr lang="en-US" sz="2000" dirty="0" err="1">
                <a:effectLst/>
              </a:rPr>
              <a:t>m</a:t>
            </a:r>
            <a:r>
              <a:rPr lang="en-US" sz="2000" dirty="0">
                <a:effectLst/>
              </a:rPr>
              <a:t> </a:t>
            </a:r>
            <a:r>
              <a:rPr lang="en-US" sz="2000" dirty="0" err="1">
                <a:effectLst/>
              </a:rPr>
              <a:t>những</a:t>
            </a:r>
            <a:r>
              <a:rPr lang="en-US" sz="2000" dirty="0">
                <a:effectLst/>
              </a:rPr>
              <a:t> </a:t>
            </a:r>
            <a:r>
              <a:rPr lang="en-US" sz="2000" dirty="0" err="1">
                <a:effectLst/>
              </a:rPr>
              <a:t>hiện</a:t>
            </a:r>
            <a:r>
              <a:rPr lang="en-US" sz="2000" dirty="0">
                <a:effectLst/>
              </a:rPr>
              <a:t> </a:t>
            </a:r>
            <a:r>
              <a:rPr lang="en-US" sz="2000" dirty="0" err="1">
                <a:effectLst/>
              </a:rPr>
              <a:t>tượng</a:t>
            </a:r>
            <a:r>
              <a:rPr lang="en-US" sz="2000" dirty="0">
                <a:effectLst/>
              </a:rPr>
              <a:t> </a:t>
            </a:r>
            <a:r>
              <a:rPr lang="en-US" sz="2000" dirty="0" err="1">
                <a:effectLst/>
              </a:rPr>
              <a:t>như</a:t>
            </a:r>
            <a:r>
              <a:rPr lang="en-US" sz="2000" dirty="0">
                <a:effectLst/>
              </a:rPr>
              <a:t> </a:t>
            </a:r>
            <a:r>
              <a:rPr lang="en-US" sz="2000" dirty="0" err="1">
                <a:effectLst/>
              </a:rPr>
              <a:t>nóng</a:t>
            </a:r>
            <a:r>
              <a:rPr lang="en-US" sz="2000" dirty="0">
                <a:effectLst/>
              </a:rPr>
              <a:t> lên </a:t>
            </a:r>
            <a:r>
              <a:rPr lang="en-US" sz="2000" dirty="0" err="1">
                <a:effectLst/>
              </a:rPr>
              <a:t>toàn</a:t>
            </a:r>
            <a:r>
              <a:rPr lang="en-US" sz="2000" dirty="0">
                <a:effectLst/>
              </a:rPr>
              <a:t> </a:t>
            </a:r>
            <a:r>
              <a:rPr lang="en-US" sz="2000" dirty="0" err="1">
                <a:effectLst/>
              </a:rPr>
              <a:t>cầu</a:t>
            </a:r>
            <a:r>
              <a:rPr lang="en-US" sz="2000" dirty="0">
                <a:effectLst/>
              </a:rPr>
              <a:t> </a:t>
            </a:r>
            <a:r>
              <a:rPr lang="en-US" sz="2000" dirty="0" err="1">
                <a:effectLst/>
              </a:rPr>
              <a:t>và</a:t>
            </a:r>
            <a:r>
              <a:rPr lang="en-US" sz="2000" dirty="0">
                <a:effectLst/>
              </a:rPr>
              <a:t> </a:t>
            </a:r>
            <a:r>
              <a:rPr lang="en-US" sz="2000" dirty="0" err="1">
                <a:effectLst/>
              </a:rPr>
              <a:t>thay</a:t>
            </a:r>
            <a:r>
              <a:rPr lang="en-US" sz="2000" dirty="0">
                <a:effectLst/>
              </a:rPr>
              <a:t> </a:t>
            </a:r>
            <a:r>
              <a:rPr lang="en-US" sz="2000" dirty="0" err="1">
                <a:effectLst/>
              </a:rPr>
              <a:t>đổi</a:t>
            </a:r>
            <a:r>
              <a:rPr lang="en-US" sz="2000" dirty="0">
                <a:effectLst/>
              </a:rPr>
              <a:t> </a:t>
            </a:r>
            <a:r>
              <a:rPr lang="en-US" sz="2000" dirty="0" err="1">
                <a:effectLst/>
              </a:rPr>
              <a:t>khí</a:t>
            </a:r>
            <a:r>
              <a:rPr lang="en-US" sz="2000" dirty="0">
                <a:effectLst/>
              </a:rPr>
              <a:t> </a:t>
            </a:r>
            <a:r>
              <a:rPr lang="en-US" sz="2000" dirty="0" err="1">
                <a:effectLst/>
              </a:rPr>
              <a:t>hậu</a:t>
            </a:r>
            <a:r>
              <a:rPr lang="en-US" sz="2000" dirty="0">
                <a:effectLst/>
              </a:rPr>
              <a:t> </a:t>
            </a:r>
            <a:r>
              <a:rPr lang="en-US" sz="2000" dirty="0" err="1">
                <a:effectLst/>
              </a:rPr>
              <a:t>ngày</a:t>
            </a:r>
            <a:r>
              <a:rPr lang="en-US" sz="2000" dirty="0">
                <a:effectLst/>
              </a:rPr>
              <a:t> </a:t>
            </a:r>
            <a:r>
              <a:rPr lang="en-US" sz="2000" dirty="0" err="1">
                <a:effectLst/>
              </a:rPr>
              <a:t>càng</a:t>
            </a:r>
            <a:r>
              <a:rPr lang="en-US" sz="2000" dirty="0">
                <a:effectLst/>
              </a:rPr>
              <a:t> </a:t>
            </a:r>
            <a:r>
              <a:rPr lang="en-US" sz="2000" dirty="0" err="1">
                <a:effectLst/>
              </a:rPr>
              <a:t>nghiêm</a:t>
            </a:r>
            <a:r>
              <a:rPr lang="en-US" sz="2000" dirty="0">
                <a:effectLst/>
              </a:rPr>
              <a:t> </a:t>
            </a:r>
            <a:r>
              <a:rPr lang="en-US" sz="2000" dirty="0" err="1">
                <a:effectLst/>
              </a:rPr>
              <a:t>trọng</a:t>
            </a:r>
            <a:r>
              <a:rPr lang="en-US" sz="2000" dirty="0">
                <a:effectLst/>
              </a:rPr>
              <a:t> </a:t>
            </a:r>
            <a:r>
              <a:rPr lang="en-US" sz="2000" dirty="0" err="1">
                <a:effectLst/>
              </a:rPr>
              <a:t>hơn</a:t>
            </a:r>
            <a:r>
              <a:rPr lang="en-US" sz="2000" dirty="0">
                <a:effectLst/>
              </a:rPr>
              <a:t>.</a:t>
            </a:r>
          </a:p>
        </p:txBody>
      </p:sp>
    </p:spTree>
    <p:extLst>
      <p:ext uri="{BB962C8B-B14F-4D97-AF65-F5344CB8AC3E}">
        <p14:creationId xmlns:p14="http://schemas.microsoft.com/office/powerpoint/2010/main" val="1764115069"/>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1494</Words>
  <Application>Microsoft Office PowerPoint</Application>
  <PresentationFormat>Widescreen</PresentationFormat>
  <Paragraphs>73</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Avenir Next LT Pro</vt:lpstr>
      <vt:lpstr>Calibri</vt:lpstr>
      <vt:lpstr>AccentBoxVTI</vt:lpstr>
      <vt:lpstr>Phân tích xu hướng nhiệt độ bất thường bề mặt trái đất</vt:lpstr>
      <vt:lpstr>1. Nội dung các phần câu hỏi  </vt:lpstr>
      <vt:lpstr>Phân tích yêu cầu bài toán</vt:lpstr>
      <vt:lpstr>Xác định các thách thức về dữ liệu và Hướng giải quyết  </vt:lpstr>
      <vt:lpstr>Thiết kế hệ thống chương trình</vt:lpstr>
      <vt:lpstr>Xây dựng chương trình dự đoán</vt:lpstr>
      <vt:lpstr>Xây dựng chương trình </vt:lpstr>
      <vt:lpstr>THỰC NGHIỆM VÀ ĐÁNH GIÁ KẾT QUẢ</vt:lpstr>
      <vt:lpstr>Kết quả phân tích dữ liệu</vt:lpstr>
      <vt:lpstr>Kết quả phân tích dữ liệu</vt:lpstr>
      <vt:lpstr>Kết quả phân tích dữ liệu</vt:lpstr>
      <vt:lpstr>Kết quả phân tích dữ liệu</vt:lpstr>
      <vt:lpstr>Kết quả phân tích dữ liệu</vt:lpstr>
      <vt:lpstr>Kết quả phân tích dữ liệu</vt:lpstr>
      <vt:lpstr>Kết quả dự đoán</vt:lpstr>
      <vt:lpstr>Kết quả dự đoán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No1 Wonder</dc:creator>
  <cp:lastModifiedBy>No1 Wonder</cp:lastModifiedBy>
  <cp:revision>1</cp:revision>
  <dcterms:created xsi:type="dcterms:W3CDTF">2026-06-21T11:56:08Z</dcterms:created>
  <dcterms:modified xsi:type="dcterms:W3CDTF">2026-06-21T12:31:56Z</dcterms:modified>
</cp:coreProperties>
</file>